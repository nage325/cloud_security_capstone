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47f10818f942d7" /><Relationship Type="http://schemas.openxmlformats.org/officeDocument/2006/relationships/extended-properties" Target="/docProps/app.xml" Id="R00072de2114a4e80" /><Relationship Type="http://schemas.openxmlformats.org/officeDocument/2006/relationships/officeDocument" Target="/ppt/presentation.xml" Id="R6ef726e67f4342a7" /></Relationships>
</file>

<file path=ppt/presentation.xml><?xml version="1.0" encoding="utf-8"?>
<p:presentation xmlns:p="http://schemas.openxmlformats.org/presentationml/2006/main">
  <p:sldMasterIdLst>
    <p:sldMasterId xmlns:r="http://schemas.openxmlformats.org/officeDocument/2006/relationships" id="2147483648" r:id="Raf6f62fdfdad4b7f"/>
  </p:sldMasterIdLst>
  <p:notesMasterIdLst>
    <p:notesMasterId xmlns:r="http://schemas.openxmlformats.org/officeDocument/2006/relationships" r:id="Rc0c24e6f3c2241ea"/>
  </p:notesMasterIdLst>
  <p:sldIdLst>
    <p:sldId xmlns:r="http://schemas.openxmlformats.org/officeDocument/2006/relationships" id="256" r:id="Rbcfb1e6829f140bf"/>
    <p:sldId xmlns:r="http://schemas.openxmlformats.org/officeDocument/2006/relationships" id="257" r:id="Rac9f806580fc4b25"/>
    <p:sldId xmlns:r="http://schemas.openxmlformats.org/officeDocument/2006/relationships" id="258" r:id="Rcafc5c85ed314f08"/>
    <p:sldId xmlns:r="http://schemas.openxmlformats.org/officeDocument/2006/relationships" id="259" r:id="R37924f7c427a4476"/>
    <p:sldId xmlns:r="http://schemas.openxmlformats.org/officeDocument/2006/relationships" id="260" r:id="R4af77ba72d794f06"/>
    <p:sldId xmlns:r="http://schemas.openxmlformats.org/officeDocument/2006/relationships" id="261" r:id="Rd8d0bd0d275f4f09"/>
    <p:sldId xmlns:r="http://schemas.openxmlformats.org/officeDocument/2006/relationships" id="262" r:id="R9bdddc4f0efd4fff"/>
    <p:sldId xmlns:r="http://schemas.openxmlformats.org/officeDocument/2006/relationships" id="263" r:id="Re79cea7ff82f473b"/>
    <p:sldId xmlns:r="http://schemas.openxmlformats.org/officeDocument/2006/relationships" id="264" r:id="Ra1a3370fa6d848bf"/>
    <p:sldId xmlns:r="http://schemas.openxmlformats.org/officeDocument/2006/relationships" id="265" r:id="Rfaf91ef7368c485e"/>
    <p:sldId xmlns:r="http://schemas.openxmlformats.org/officeDocument/2006/relationships" id="266" r:id="R534221f638d64b17"/>
    <p:sldId xmlns:r="http://schemas.openxmlformats.org/officeDocument/2006/relationships" id="267" r:id="R742a810a7a7d42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447aceb749481d" /><Relationship Type="http://schemas.openxmlformats.org/officeDocument/2006/relationships/slideMaster" Target="/ppt/slideMasters/slideMaster1.xml" Id="Raf6f62fdfdad4b7f" /><Relationship Type="http://schemas.openxmlformats.org/officeDocument/2006/relationships/notesMaster" Target="/ppt/notesMasters/notesMaster1.xml" Id="Rc0c24e6f3c2241ea" /><Relationship Type="http://schemas.openxmlformats.org/officeDocument/2006/relationships/presProps" Target="/ppt/presProps.xml" Id="R44d085ccb33e4e74" /><Relationship Type="http://schemas.openxmlformats.org/officeDocument/2006/relationships/tableStyles" Target="/ppt/tableStyles.xml" Id="R2ddbb9a9b2b84483" /><Relationship Type="http://schemas.openxmlformats.org/officeDocument/2006/relationships/slide" Target="/ppt/slides/slide1.xml" Id="Rbcfb1e6829f140bf" /><Relationship Type="http://schemas.openxmlformats.org/officeDocument/2006/relationships/slide" Target="/ppt/slides/slide2.xml" Id="Rac9f806580fc4b25" /><Relationship Type="http://schemas.openxmlformats.org/officeDocument/2006/relationships/slide" Target="/ppt/slides/slide3.xml" Id="Rcafc5c85ed314f08" /><Relationship Type="http://schemas.openxmlformats.org/officeDocument/2006/relationships/slide" Target="/ppt/slides/slide4.xml" Id="R37924f7c427a4476" /><Relationship Type="http://schemas.openxmlformats.org/officeDocument/2006/relationships/slide" Target="/ppt/slides/slide5.xml" Id="R4af77ba72d794f06" /><Relationship Type="http://schemas.openxmlformats.org/officeDocument/2006/relationships/slide" Target="/ppt/slides/slide6.xml" Id="Rd8d0bd0d275f4f09" /><Relationship Type="http://schemas.openxmlformats.org/officeDocument/2006/relationships/slide" Target="/ppt/slides/slide7.xml" Id="R9bdddc4f0efd4fff" /><Relationship Type="http://schemas.openxmlformats.org/officeDocument/2006/relationships/slide" Target="/ppt/slides/slide8.xml" Id="Re79cea7ff82f473b" /><Relationship Type="http://schemas.openxmlformats.org/officeDocument/2006/relationships/slide" Target="/ppt/slides/slide9.xml" Id="Ra1a3370fa6d848bf" /><Relationship Type="http://schemas.openxmlformats.org/officeDocument/2006/relationships/slide" Target="/ppt/slides/slide10.xml" Id="Rfaf91ef7368c485e" /><Relationship Type="http://schemas.openxmlformats.org/officeDocument/2006/relationships/slide" Target="/ppt/slides/slide11.xml" Id="R534221f638d64b17" /><Relationship Type="http://schemas.openxmlformats.org/officeDocument/2006/relationships/slide" Target="/ppt/slides/slide12.xml" Id="R742a810a7a7d42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64e037519a4a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d52295cd784418" /><Relationship Type="http://schemas.openxmlformats.org/officeDocument/2006/relationships/notesMaster" Target="/ppt/notesMasters/notesMaster1.xml" Id="Rc8bab91c959e40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06990ece0141c8" /><Relationship Type="http://schemas.openxmlformats.org/officeDocument/2006/relationships/notesMaster" Target="/ppt/notesMasters/notesMaster1.xml" Id="R09e0820edb7442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e66f5a202940ec" /><Relationship Type="http://schemas.openxmlformats.org/officeDocument/2006/relationships/notesMaster" Target="/ppt/notesMasters/notesMaster1.xml" Id="R252986baea6742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987d0c7c864278" /><Relationship Type="http://schemas.openxmlformats.org/officeDocument/2006/relationships/notesMaster" Target="/ppt/notesMasters/notesMaster1.xml" Id="R30c314dee0df46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d77f958b544dfc" /><Relationship Type="http://schemas.openxmlformats.org/officeDocument/2006/relationships/notesMaster" Target="/ppt/notesMasters/notesMaster1.xml" Id="Rf48e71a3aed24e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c709c3834e411d" /><Relationship Type="http://schemas.openxmlformats.org/officeDocument/2006/relationships/notesMaster" Target="/ppt/notesMasters/notesMaster1.xml" Id="R8335923b477e48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1715f029c048be" /><Relationship Type="http://schemas.openxmlformats.org/officeDocument/2006/relationships/notesMaster" Target="/ppt/notesMasters/notesMaster1.xml" Id="R27c044a0794d47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5c1522b97942ba" /><Relationship Type="http://schemas.openxmlformats.org/officeDocument/2006/relationships/notesMaster" Target="/ppt/notesMasters/notesMaster1.xml" Id="R4801e257c4674a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00142059c749a6" /><Relationship Type="http://schemas.openxmlformats.org/officeDocument/2006/relationships/notesMaster" Target="/ppt/notesMasters/notesMaster1.xml" Id="Re50a9ef589cc4d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ba989c6f0b4740" /><Relationship Type="http://schemas.openxmlformats.org/officeDocument/2006/relationships/notesMaster" Target="/ppt/notesMasters/notesMaster1.xml" Id="R948fce07f74545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c1e63c96254235" /><Relationship Type="http://schemas.openxmlformats.org/officeDocument/2006/relationships/notesMaster" Target="/ppt/notesMasters/notesMaster1.xml" Id="Ra60856a5fa6f4af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2137083cc94faa" /><Relationship Type="http://schemas.openxmlformats.org/officeDocument/2006/relationships/notesMaster" Target="/ppt/notesMasters/notesMaster1.xml" Id="R5e6e5829d5664c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 We are Charlotte Zhang and Nana Ge. Our project is a security compliance checker for MedTech's AI infrastructure, following Engineer Option A. It automates five configuration questions and produces evidence for a security reviewer. Today we demonstrate the implemented scanner entirely offline. The cloud deployment design is included, but no real AWS deployment, schedule execution or email delivery has been performed. PASS refers only to the declared technical baseline and scope.</a:t>
            </a:r>
          </a:p>
          <a:p xmlns:a="http://schemas.openxmlformats.org/drawingml/2006/main">
            <a:r>
              <a:t/>
            </a:r>
          </a:p>
          <a:p xmlns:a="http://schemas.openxmlformats.org/drawingml/2006/main">
            <a:r>
              <a:t>Sources: https://github.com/georgewerbacher/cmu-cloud-sec-documentation/blob/main/pages/capstone/capstone_engineer.md</a:t>
            </a:r>
          </a:p>
          <a:p xmlns:a="http://schemas.openxmlformats.org/drawingml/2006/main">
            <a:r>
              <a:t>https://github.com/NaGe325/Cloud_Security_Capstone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MedTech's AI teams work with data buckets, identities and compute resources. A configuration may change between manual reviews. Repeating a small set of questions is useful, but reviewers still need to decide whether a finding is relevant to patient data or actual exposure. We selected five checks because they are repeatable and explainable. The checker supports human judgment by collecting consistent configuration evidence. It does not read patient objects or change assessed resources. Our goal is to reduce repeated collection work while making evidence gaps visible.</a:t>
            </a:r>
          </a:p>
          <a:p xmlns:a="http://schemas.openxmlformats.org/drawingml/2006/main">
            <a:r>
              <a:t/>
            </a:r>
          </a:p>
          <a:p xmlns:a="http://schemas.openxmlformats.org/drawingml/2006/main">
            <a:r>
              <a:t>Sources: https://github.com/georgewerbacher/cmu-cloud-sec-documentation/blob/main/pages/capstone/capstone_engineer.md</a:t>
            </a:r>
          </a:p>
          <a:p xmlns:a="http://schemas.openxmlformats.org/drawingml/2006/main">
            <a:r>
              <a:t>https://github.com/NaGe325/Cloud_Security_Capstone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The checker uses explicit scope rather than claiming to discover every resource. Five control groups can yield multiple results, such as separate root and console-user MFA findings. Reports retain status, reason, evidence and suggested next steps. The important design choice is that uncertainty is a first-class result. An access-denied error does not become a pass. Human review remains in the workflow. Later we show an illustrative time model, with the assumptions stated openly rather than claiming measured production savings.</a:t>
            </a:r>
          </a:p>
          <a:p xmlns:a="http://schemas.openxmlformats.org/drawingml/2006/main">
            <a:r>
              <a:t/>
            </a:r>
          </a:p>
          <a:p xmlns:a="http://schemas.openxmlformats.org/drawingml/2006/main">
            <a:r>
              <a:t>Sources: https://github.com/georgewerbacher/cmu-cloud-sec-documentation/blob/main/pages/capstone/capstone_engineer.md</a:t>
            </a:r>
          </a:p>
          <a:p xmlns:a="http://schemas.openxmlformats.org/drawingml/2006/main">
            <a:r>
              <a:t>https://github.com/NaGe325/Cloud_Security_Capstone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EventBridge invokes the Lambda function on a daily or weekly schedule. Lambda reads configuration from S3, IAM, EC2 and CloudTrail using scoped permissions. It evaluates five control groups and constructs structured findings. In the AWS branch, enabled report writes happen first, then an SNS summary when there are failures or unknowns, then optional metrics. SNS contains summary counts and a report pointer, not detailed evidence. Separate failure queues cover EventBridge delivery and exhausted Lambda asynchronous failures. Every output is independently controlled. The schedule and cloud operations are disabled by default. No cloud execution is claimed today.</a:t>
            </a:r>
          </a:p>
          <a:p xmlns:a="http://schemas.openxmlformats.org/drawingml/2006/main">
            <a:r>
              <a:t/>
            </a:r>
          </a:p>
          <a:p xmlns:a="http://schemas.openxmlformats.org/drawingml/2006/main">
            <a:r>
              <a:t>Sources: https://github.com/georgewerbacher/cmu-cloud-sec-documentation/blob/main/pages/capstone/capstone_engineer.md</a:t>
            </a:r>
          </a:p>
          <a:p xmlns:a="http://schemas.openxmlformats.org/drawingml/2006/main">
            <a:r>
              <a:t>https://docs.aws.amazon.com/wellarchitected/latest/security-pillar/</a:t>
            </a:r>
          </a:p>
          <a:p xmlns:a="http://schemas.openxmlformats.org/drawingml/2006/main">
            <a:r>
              <a:t>https://github.com/NaGe325/Cloud_Security_Capstone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 The live entry point verifies the STS caller account before scanning and S3 calls include the expected bucket owner. The sample SAM stack targets one existing bucket in its deployment region. The Python scope can include additional regions or buckets, but policies must be extended at the same time. Read, report-write, notification and metrics permissions are distinct. These choices align with the Security Pillar principles of identity, traceability, automation and data protection. The deployment plan is staged: validate the smallest scope before enabling outputs and scheduling. Effective IAM, SCP and KMS behavior still needs a live pilot. The retained report bucket also needs deliberate cleanup after a stack is removed.</a:t>
            </a:r>
          </a:p>
          <a:p xmlns:a="http://schemas.openxmlformats.org/drawingml/2006/main">
            <a:r>
              <a:t/>
            </a:r>
          </a:p>
          <a:p xmlns:a="http://schemas.openxmlformats.org/drawingml/2006/main">
            <a:r>
              <a:t>Sources: https://docs.aws.amazon.com/wellarchitected/latest/security-pillar/</a:t>
            </a:r>
          </a:p>
          <a:p xmlns:a="http://schemas.openxmlformats.org/drawingml/2006/main">
            <a:r>
              <a:t>https://github.com/NaGe325/Cloud_Security_Capstone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The first check combines account and bucket Block Public Access flags. A failure is a preventive baseline gap, not proof of public readability. The second checks default KMS encryption; SSE-S3 remains valid encryption but does not meet our stricter project policy. MFA checks root and console-login users. A service user without a console profile is not applicable, and enrollment does not prove sign-in enforcement. EC2 checks direct IPv4 and IPv6 /0 rules covering ports 22 or 3389. It does not prove network reachability or inspect MySQL exposure. CloudTrail needs logging, global events, complete read/write management-event coverage and no reported delivery error. These five groups satisfy the engineering scope. Severity is project triage, not CVSS or a legal conclusion.</a:t>
            </a:r>
          </a:p>
          <a:p xmlns:a="http://schemas.openxmlformats.org/drawingml/2006/main">
            <a:r>
              <a:t/>
            </a:r>
          </a:p>
          <a:p xmlns:a="http://schemas.openxmlformats.org/drawingml/2006/main">
            <a:r>
              <a:t>Sources: https://docs.aws.amazon.com/AmazonS3/latest/userguide/access-control-block-public-access.html</a:t>
            </a:r>
          </a:p>
          <a:p xmlns:a="http://schemas.openxmlformats.org/drawingml/2006/main">
            <a:r>
              <a:t>https://docs.aws.amazon.com/AmazonS3/latest/userguide/UsingKMSEncryption.html</a:t>
            </a:r>
          </a:p>
          <a:p xmlns:a="http://schemas.openxmlformats.org/drawingml/2006/main">
            <a:r>
              <a:t>https://github.com/NaGe325/Cloud_Security_Capstone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 Service errors produce UNKNOWN and retain the reason, while independent checks continue. Inventory pagination must complete before we draw inventory conclusions. Known API errors are handled explicitly; unexpected programming errors propagate rather than becoming misleading compliance results. The SDK has bounded retries. Report-delivery failures also propagate: JSON may have uploaded before HTML fails, and an asynchronous retry can duplicate output. A stable finding ID helps compare findings, but it is not durable delivery deduplication. Our tests block AWS transport, and offline fixtures use dummy credentials. Current alarms cover errors or unknown findings, but have no notification actions and cannot detect a missed scheduled run.</a:t>
            </a:r>
          </a:p>
          <a:p xmlns:a="http://schemas.openxmlformats.org/drawingml/2006/main">
            <a:r>
              <a:t/>
            </a:r>
          </a:p>
          <a:p xmlns:a="http://schemas.openxmlformats.org/drawingml/2006/main">
            <a:r>
              <a:t>Sources: https://docs.aws.amazon.com/wellarchitected/latest/security-pillar/</a:t>
            </a:r>
          </a:p>
          <a:p xmlns:a="http://schemas.openxmlformats.org/drawingml/2006/main">
            <a:r>
              <a:t>https://github.com/NaGe325/Cloud_Security_Capstone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 demo] Use the local demo as the reliable default; open demo/index.html before presenting. Start with Misconfigured. Show six failed results, one N/A, and no unknowns. Open root MFA, show AccountMFAEnabled equals zero, and inspect the recommended action. Show the SNS preview and make clear it has not been sent. Switch to Compliant: six PASS and one N/A. Switch to Incomplete: five PASS, one UNKNOWN and one N/A; encryption evidence is unavailable because of AccessDenied. Explain that 100 percent of assessed items passing still leaves incomplete evidence. Show the input fixture and download a JSON or HTML report. If useful, run the CLI command; it exits one for confirmed failures by design. The website replays recorded output; the CLI executes the real scanner against synthetic boto3 Stubber responses. Neither scans AWS.</a:t>
            </a:r>
          </a:p>
          <a:p xmlns:a="http://schemas.openxmlformats.org/drawingml/2006/main">
            <a:r>
              <a:t/>
            </a:r>
          </a:p>
          <a:p xmlns:a="http://schemas.openxmlformats.org/drawingml/2006/main">
            <a:r>
              <a:t>Sources: https://medtech-security-checker-demo.nage32519.chatgpt.site/</a:t>
            </a:r>
          </a:p>
          <a:p xmlns:a="http://schemas.openxmlformats.org/drawingml/2006/main">
            <a:r>
              <a:t>https://github.com/NaGe325/Cloud_Security_Capstone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This table comes directly from examples/misconfigured.json, not an invented breach narrative. The root configuration indicates no enrolled MFA in the synthetic scenario. We triage it first because root has powerful account-level authority. The next action is contextual: protect root with MFA or verify and document centralized root credential removal where applicable. The reviewer should validate the actual account model before changing anything. Other gaps include console-user MFA, open administrative ingress, S3 preventive flags, the KMS baseline and logging coverage. Notifications carry counts rather than resource evidence. The full report remains the review artifact.</a:t>
            </a:r>
          </a:p>
          <a:p xmlns:a="http://schemas.openxmlformats.org/drawingml/2006/main">
            <a:r>
              <a:t/>
            </a:r>
          </a:p>
          <a:p xmlns:a="http://schemas.openxmlformats.org/drawingml/2006/main">
            <a:r>
              <a:t>Sources: https://github.com/NaGe325/Cloud_Security_Capstone/blob/main/examples/misconfigured.json</a:t>
            </a:r>
          </a:p>
          <a:p xmlns:a="http://schemas.openxmlformats.org/drawingml/2006/main">
            <a:r>
              <a:t>https://github.com/NaGe325/Cloud_Security_Capstone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 Here is a transparent planning model. Assume a manual workflow takes fifteen minutes: ten for collection and five for interpretation. With automation, retain five minutes of human review. Thirty daily runs release three hundred minutes, or five staff hours a month. That is a 66.7 percent reduction for this narrow workflow. At an assumed sixty dollars per hour it represents three hundred dollars of capacity, not an actual payroll saving. Neither human timing has been measured. Separately, the cloud model assumes one small account in us-east-1, thirty runs, 256 MB Arm and thirty seconds billed duration per run. Before free-tier credits, the base model rounds up to roughly two cents a month; three metrics, one dashboard and two alarms bring it to a rounded-up budget of about four dollars twelve. Existing workloads, taxes, transfer, extra retries and labor are excluded. Monitoring dominates this tiny scenario. A five-dollar review threshold is not an enforced cap. Measured evidence is the offline regression suite and reproducible outputs. Pilot targets are future acceptance criteria.</a:t>
            </a:r>
          </a:p>
          <a:p xmlns:a="http://schemas.openxmlformats.org/drawingml/2006/main">
            <a:r>
              <a:t/>
            </a:r>
          </a:p>
          <a:p xmlns:a="http://schemas.openxmlformats.org/drawingml/2006/main">
            <a:r>
              <a:t>Sources: https://aws.amazon.com/lambda/pricing/</a:t>
            </a:r>
          </a:p>
          <a:p xmlns:a="http://schemas.openxmlformats.org/drawingml/2006/main">
            <a:r>
              <a:t>https://aws.amazon.com/s3/pricing/</a:t>
            </a:r>
          </a:p>
          <a:p xmlns:a="http://schemas.openxmlformats.org/drawingml/2006/main">
            <a:r>
              <a:t>https://aws.amazon.com/kms/pricing/</a:t>
            </a:r>
          </a:p>
          <a:p xmlns:a="http://schemas.openxmlformats.org/drawingml/2006/main">
            <a:r>
              <a:t>https://aws.amazon.com/sns/faqs/</a:t>
            </a:r>
          </a:p>
          <a:p xmlns:a="http://schemas.openxmlformats.org/drawingml/2006/main">
            <a:r>
              <a:t>https://aws.amazon.com/cloudwatch/pricing/</a:t>
            </a:r>
          </a:p>
          <a:p xmlns:a="http://schemas.openxmlformats.org/drawingml/2006/main">
            <a:r>
              <a:t>https://aws.amazon.com/sqs/pricing/</a:t>
            </a:r>
          </a:p>
          <a:p xmlns:a="http://schemas.openxmlformats.org/drawingml/2006/main">
            <a:r>
              <a:t>https://aws.amazon.com/eventbridge/pricing/</a:t>
            </a:r>
          </a:p>
          <a:p xmlns:a="http://schemas.openxmlformats.org/drawingml/2006/main">
            <a:r>
              <a:t>https://github.com/NaGe325/Cloud_Security_Capstone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First, review a safe isolated account, explicit bucket/region scope and policies. Deploy defaults only after reviewing the change set. Validate reads, then stored reports and one approved recipient, before enabling the schedule. Observe seven expected daily runs and examine actual cost, duration, unknowns and delivery evidence. These are proposed acceptance tests, not results we already have. After the pilot, add a missed-run detector and durable deduplication. Broader coverage requires matching IAM and scope updates, quota testing and a more scalable execution model. The instructor environment also has RDS and excessive-role-policy issues outside our five controls. Human approval remains necessary for remediation.</a:t>
            </a:r>
          </a:p>
          <a:p xmlns:a="http://schemas.openxmlformats.org/drawingml/2006/main">
            <a:r>
              <a:t/>
            </a:r>
          </a:p>
          <a:p xmlns:a="http://schemas.openxmlformats.org/drawingml/2006/main">
            <a:r>
              <a:t>Sources: https://github.com/georgewerbacher/cmu-cloud-sec-documentation/blob/main/pages/capstone/capstone_engineer.md</a:t>
            </a:r>
          </a:p>
          <a:p xmlns:a="http://schemas.openxmlformats.org/drawingml/2006/main">
            <a:r>
              <a:t>https://docs.aws.amazon.com/wellarchitected/latest/security-pillar/</a:t>
            </a:r>
          </a:p>
          <a:p xmlns:a="http://schemas.openxmlformats.org/drawingml/2006/main">
            <a:r>
              <a:t>https://github.com/NaGe325/Cloud_Security_Capstone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 + 2:00 Q&amp;A] We implemented five repeatable checks, made evidence and uncertainty explicit, and provided reports that support human triage. The offline demo and tests establish rule behavior within scope. The SAM design describes the path to a small cloud pilot. We do not claim complete AWS coverage or HIPAA certification. The next step is to validate real permissions, delivery, schedule execution and the economic assumptions. Thank you. We are ready for questions. AI assistance and sources are disclosed in the accompanying appendix.</a:t>
            </a:r>
          </a:p>
          <a:p xmlns:a="http://schemas.openxmlformats.org/drawingml/2006/main">
            <a:r>
              <a:t/>
            </a:r>
          </a:p>
          <a:p xmlns:a="http://schemas.openxmlformats.org/drawingml/2006/main">
            <a:r>
              <a:t>Sources: https://github.com/georgewerbacher/cmu-cloud-sec-documentation/blob/main/pages/capstone/capstone_engineer.md</a:t>
            </a:r>
          </a:p>
          <a:p xmlns:a="http://schemas.openxmlformats.org/drawingml/2006/main">
            <a:r>
              <a:t>https://docs.aws.amazon.com/wellarchitected/latest/security-pillar/</a:t>
            </a:r>
          </a:p>
          <a:p xmlns:a="http://schemas.openxmlformats.org/drawingml/2006/main">
            <a:r>
              <a:t>https://github.com/NaGe325/Cloud_Security_Capstone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14b25ccc8843b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3cba514c53d4cb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ba7a48fab56420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704d2c9ac64d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9e94919a2045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1f33e93ccd48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C86761-0224-4604-9C28-8BB280100C4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E3EAED-8F02-483B-98F7-000B3575867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71AD20-5BC0-4159-B103-C04E7A5CCF8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D0485E-B3A6-4D77-8270-9B5D6B460A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EB40D8-C646-4AF8-9CC1-4DD8679F5BA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983F14D-67E2-42DE-8C3A-9D0A04C74A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3E5DD0-21B2-4F4F-89E8-56373D0F0B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D8AEC2-ADB4-4B50-B070-1B3DEF3416E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2AA113-A4E7-4C63-9AAE-F9419EA4C3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9AB9C8-466D-4892-A159-40D7169078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470c82bf3142c2" /><Relationship Type="http://schemas.openxmlformats.org/officeDocument/2006/relationships/slideLayout" Target="/ppt/slideLayouts/slideLayout1.xml" Id="Rac3436004f5c455c" /><Relationship Type="http://schemas.openxmlformats.org/officeDocument/2006/relationships/slideLayout" Target="/ppt/slideLayouts/slideLayout2.xml" Id="R0f718a8a9b3449ad" /><Relationship Type="http://schemas.openxmlformats.org/officeDocument/2006/relationships/slideLayout" Target="/ppt/slideLayouts/slideLayout3.xml" Id="R3a739ec0b277453c" /><Relationship Type="http://schemas.openxmlformats.org/officeDocument/2006/relationships/slideLayout" Target="/ppt/slideLayouts/slideLayout4.xml" Id="R3e42e2680f77457c" /><Relationship Type="http://schemas.openxmlformats.org/officeDocument/2006/relationships/slideLayout" Target="/ppt/slideLayouts/slideLayout5.xml" Id="R89fe965d325e47d8" /><Relationship Type="http://schemas.openxmlformats.org/officeDocument/2006/relationships/slideLayout" Target="/ppt/slideLayouts/slideLayout6.xml" Id="R87c27058056d47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3436004f5c455c"/>
    <p:sldLayoutId xmlns:r="http://schemas.openxmlformats.org/officeDocument/2006/relationships" id="2147483650" r:id="R0f718a8a9b3449ad"/>
    <p:sldLayoutId xmlns:r="http://schemas.openxmlformats.org/officeDocument/2006/relationships" id="2147483651" r:id="R3a739ec0b277453c"/>
    <p:sldLayoutId xmlns:r="http://schemas.openxmlformats.org/officeDocument/2006/relationships" id="2147483652" r:id="R3e42e2680f77457c"/>
    <p:sldLayoutId xmlns:r="http://schemas.openxmlformats.org/officeDocument/2006/relationships" id="2147483653" r:id="R89fe965d325e47d8"/>
    <p:sldLayoutId xmlns:r="http://schemas.openxmlformats.org/officeDocument/2006/relationships" id="2147483654" r:id="R87c27058056d47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b75c554a5149a9" /><Relationship Type="http://schemas.openxmlformats.org/officeDocument/2006/relationships/image" Target="/ppt/media/image.jpeg" Id="R13f87edf469a4521" /><Relationship Type="http://schemas.openxmlformats.org/officeDocument/2006/relationships/notesSlide" Target="/ppt/notesSlides/notesSlide1.xml" Id="Rbf41f8af8eeb43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71cb3ed45ed4262" /><Relationship Type="http://schemas.openxmlformats.org/officeDocument/2006/relationships/image" Target="/ppt/media/image2.jpeg" Id="R8d189cffa0ec4ffb" /><Relationship Type="http://schemas.openxmlformats.org/officeDocument/2006/relationships/notesSlide" Target="/ppt/notesSlides/notesSlide2.xml" Id="R64289e25c81246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14b5fc57c0d4d52" /><Relationship Type="http://schemas.openxmlformats.org/officeDocument/2006/relationships/image" Target="/ppt/media/image3.jpeg" Id="R7a25025623c24268" /><Relationship Type="http://schemas.openxmlformats.org/officeDocument/2006/relationships/notesSlide" Target="/ppt/notesSlides/notesSlide3.xml" Id="R4bc154b16a734e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cd01c98b3a548b6" /><Relationship Type="http://schemas.openxmlformats.org/officeDocument/2006/relationships/image" Target="/ppt/media/image4.jpeg" Id="R98216d73849843e5" /><Relationship Type="http://schemas.openxmlformats.org/officeDocument/2006/relationships/notesSlide" Target="/ppt/notesSlides/notesSlide4.xml" Id="R6fb88664050d42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cae530d6274338" /><Relationship Type="http://schemas.openxmlformats.org/officeDocument/2006/relationships/image" Target="/ppt/media/image5.jpeg" Id="R5d48f5e8a82d4a0b" /><Relationship Type="http://schemas.openxmlformats.org/officeDocument/2006/relationships/notesSlide" Target="/ppt/notesSlides/notesSlide5.xml" Id="Rce57e585ad9d43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857571ba052425b" /><Relationship Type="http://schemas.openxmlformats.org/officeDocument/2006/relationships/image" Target="/ppt/media/image6.jpeg" Id="R8dbf81b944e14201" /><Relationship Type="http://schemas.openxmlformats.org/officeDocument/2006/relationships/notesSlide" Target="/ppt/notesSlides/notesSlide6.xml" Id="R652bb5ef402a4d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98a5c2af25a4fad" /><Relationship Type="http://schemas.openxmlformats.org/officeDocument/2006/relationships/image" Target="/ppt/media/image7.jpeg" Id="Rdc57bf5fb6384d1d" /><Relationship Type="http://schemas.openxmlformats.org/officeDocument/2006/relationships/notesSlide" Target="/ppt/notesSlides/notesSlide7.xml" Id="R2473762047fc47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5ebf2b4024347f9" /><Relationship Type="http://schemas.openxmlformats.org/officeDocument/2006/relationships/image" Target="/ppt/media/image8.jpeg" Id="Rbff7629d31c24150" /><Relationship Type="http://schemas.openxmlformats.org/officeDocument/2006/relationships/hyperlink" Target="https://medtech-security-checker-demo.nage32519.chatgpt.site/" TargetMode="External" Id="R91eb45902aff4db6" /><Relationship Type="http://schemas.openxmlformats.org/officeDocument/2006/relationships/notesSlide" Target="/ppt/notesSlides/notesSlide8.xml" Id="Rfb5cae0126c94f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427cd30fcac4a02" /><Relationship Type="http://schemas.openxmlformats.org/officeDocument/2006/relationships/image" Target="/ppt/media/image9.jpeg" Id="R96f9638f89864f9d" /><Relationship Type="http://schemas.openxmlformats.org/officeDocument/2006/relationships/notesSlide" Target="/ppt/notesSlides/notesSlide9.xml" Id="R9a12b301fb9b47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6041e8df2f24657" /><Relationship Type="http://schemas.openxmlformats.org/officeDocument/2006/relationships/image" Target="/ppt/media/image10.jpeg" Id="Rfa7c32e525f24284" /><Relationship Type="http://schemas.openxmlformats.org/officeDocument/2006/relationships/notesSlide" Target="/ppt/notesSlides/notesSlide10.xml" Id="R21d196941c2f4b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40e402d0a5948aa" /><Relationship Type="http://schemas.openxmlformats.org/officeDocument/2006/relationships/image" Target="/ppt/media/image11.jpeg" Id="Rb329655777664285" /><Relationship Type="http://schemas.openxmlformats.org/officeDocument/2006/relationships/notesSlide" Target="/ppt/notesSlides/notesSlide11.xml" Id="R5e793715f48842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41a0e7e92984f09" /><Relationship Type="http://schemas.openxmlformats.org/officeDocument/2006/relationships/image" Target="/ppt/media/image12.jpeg" Id="Rdfd146bd73cf4628" /><Relationship Type="http://schemas.openxmlformats.org/officeDocument/2006/relationships/hyperlink" Target="https://github.com/NaGe325/Cloud_Security_Capstone" TargetMode="External" Id="R0d83c9193b344adf" /><Relationship Type="http://schemas.openxmlformats.org/officeDocument/2006/relationships/notesSlide" Target="/ppt/notesSlides/notesSlide12.xml" Id="Rb015a2748d3e41eb" /></Relationships>
</file>

<file path=ppt/slides/slide1.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16BB936-399A-4EDC-8E25-B38B6D84EF08}"/>
              </a:ext>
            </a:extLst>
          </p:cNvPr>
          <p:cNvPicPr>
            <a:picLocks xmlns:a="http://schemas.openxmlformats.org/drawingml/2006/main" noChangeAspect="1"/>
          </p:cNvPicPr>
          <p:nvPr/>
        </p:nvPicPr>
        <p:blipFill>
          <a:blip xmlns:r="http://schemas.openxmlformats.org/officeDocument/2006/relationships" xmlns:a="http://schemas.openxmlformats.org/drawingml/2006/main" r:embed="R13f87edf469a4521"/>
          <a:stretch xmlns:a="http://schemas.openxmlformats.org/drawingml/2006/main"/>
        </p:blipFill>
        <p:spPr>
          <a:xfrm xmlns:a="http://schemas.openxmlformats.org/drawingml/2006/main">
            <a:off x="0" y="0"/>
            <a:ext cx="4972050" cy="6858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9F2F2219-73FB-46C8-8E17-230A914E5016}"/>
              </a:ext>
            </a:extLst>
          </p:cNvPr>
          <p:cNvSpPr>
            <a:spLocks xmlns:a="http://schemas.openxmlformats.org/drawingml/2006/main" noGrp="1"/>
          </p:cNvSpPr>
          <p:nvPr/>
        </p:nvSpPr>
        <p:spPr>
          <a:xfrm xmlns:a="http://schemas.openxmlformats.org/drawingml/2006/main">
            <a:off x="5429250" y="1714500"/>
            <a:ext cx="6048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0">
                <a:solidFill>
                  <a:srgbClr val="55595F"/>
                </a:solidFill>
                <a:latin typeface="Open Sans"/>
                <a:ea typeface="Open Sans"/>
                <a:cs typeface="Open Sans"/>
              </a:defRPr>
            </a:defPPr>
          </a:lstStyle>
          <a:p xmlns:a="http://schemas.openxmlformats.org/drawingml/2006/main">
            <a:pPr>
              <a:defRPr sz="3825" b="0">
                <a:solidFill>
                  <a:srgbClr val="55595F"/>
                </a:solidFill>
                <a:latin typeface="Open Sans"/>
                <a:ea typeface="Open Sans"/>
                <a:cs typeface="Open Sans"/>
              </a:defRPr>
            </a:pPr>
            <a:r>
              <a:rPr sz="3825" b="0">
                <a:solidFill>
                  <a:srgbClr val="55595F"/>
                </a:solidFill>
                <a:latin typeface="Open Sans"/>
                <a:ea typeface="Open Sans"/>
                <a:cs typeface="Open Sans"/>
              </a:rPr>
              <a:t>MedTech Security</a:t>
            </a:r>
          </a:p>
          <a:p xmlns:a="http://schemas.openxmlformats.org/drawingml/2006/main">
            <a:pPr>
              <a:defRPr sz="3825" b="0">
                <a:solidFill>
                  <a:srgbClr val="55595F"/>
                </a:solidFill>
                <a:latin typeface="Open Sans"/>
                <a:ea typeface="Open Sans"/>
                <a:cs typeface="Open Sans"/>
              </a:defRPr>
            </a:pPr>
            <a:r>
              <a:rPr sz="3825" b="0">
                <a:solidFill>
                  <a:srgbClr val="55595F"/>
                </a:solidFill>
                <a:latin typeface="Open Sans"/>
                <a:ea typeface="Open Sans"/>
                <a:cs typeface="Open Sans"/>
              </a:rPr>
              <a:t>Baseline Checker</a:t>
            </a:r>
          </a:p>
        </p:txBody>
      </p:sp>
      <p:sp>
        <p:nvSpPr>
          <p:cNvPr id="3" name="route">
            <a:extLst xmlns:a="http://schemas.openxmlformats.org/drawingml/2006/main">
              <a:ext uri="{FF2B5EF4-FFF2-40B4-BE49-F238E27FC236}">
                <a16:creationId xmlns:a16="http://schemas.microsoft.com/office/drawing/2014/main" id="{93C2F587-EC36-4F7B-ADB4-3FCE6CFAE264}"/>
              </a:ext>
            </a:extLst>
          </p:cNvPr>
          <p:cNvSpPr>
            <a:spLocks xmlns:a="http://schemas.openxmlformats.org/drawingml/2006/main" noGrp="1"/>
          </p:cNvSpPr>
          <p:nvPr/>
        </p:nvSpPr>
        <p:spPr>
          <a:xfrm xmlns:a="http://schemas.openxmlformats.org/drawingml/2006/main">
            <a:off x="5467350" y="3543300"/>
            <a:ext cx="581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B2A49"/>
                </a:solidFill>
                <a:latin typeface="Open Sans"/>
                <a:ea typeface="Open Sans"/>
                <a:cs typeface="Open Sans"/>
              </a:defRPr>
            </a:defPPr>
          </a:lstStyle>
          <a:p xmlns:a="http://schemas.openxmlformats.org/drawingml/2006/main">
            <a:pPr>
              <a:defRPr sz="1875" b="1">
                <a:solidFill>
                  <a:srgbClr val="1B2A49"/>
                </a:solidFill>
                <a:latin typeface="Open Sans"/>
                <a:ea typeface="Open Sans"/>
                <a:cs typeface="Open Sans"/>
              </a:defRPr>
            </a:pPr>
            <a:r>
              <a:rPr sz="1875" b="1">
                <a:solidFill>
                  <a:srgbClr val="1B2A49"/>
                </a:solidFill>
                <a:latin typeface="Open Sans"/>
                <a:ea typeface="Open Sans"/>
                <a:cs typeface="Open Sans"/>
              </a:rPr>
              <a:t>Cloud Security Engineer / Option A</a:t>
            </a:r>
          </a:p>
        </p:txBody>
      </p:sp>
      <p:sp>
        <p:nvSpPr>
          <p:cNvPr id="4" name="authors">
            <a:extLst xmlns:a="http://schemas.openxmlformats.org/drawingml/2006/main">
              <a:ext uri="{FF2B5EF4-FFF2-40B4-BE49-F238E27FC236}">
                <a16:creationId xmlns:a16="http://schemas.microsoft.com/office/drawing/2014/main" id="{6E5922D8-68BC-4439-BC79-239488190914}"/>
              </a:ext>
            </a:extLst>
          </p:cNvPr>
          <p:cNvSpPr>
            <a:spLocks xmlns:a="http://schemas.openxmlformats.org/drawingml/2006/main" noGrp="1"/>
          </p:cNvSpPr>
          <p:nvPr/>
        </p:nvSpPr>
        <p:spPr>
          <a:xfrm xmlns:a="http://schemas.openxmlformats.org/drawingml/2006/main">
            <a:off x="5467350" y="411480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F172A"/>
                </a:solidFill>
                <a:latin typeface="Open Sans"/>
                <a:ea typeface="Open Sans"/>
                <a:cs typeface="Open Sans"/>
              </a:defRPr>
            </a:defPPr>
          </a:lstStyle>
          <a:p xmlns:a="http://schemas.openxmlformats.org/drawingml/2006/main">
            <a:pPr>
              <a:defRPr sz="2100" b="0">
                <a:solidFill>
                  <a:srgbClr val="0F172A"/>
                </a:solidFill>
                <a:latin typeface="Open Sans"/>
                <a:ea typeface="Open Sans"/>
                <a:cs typeface="Open Sans"/>
              </a:defRPr>
            </a:pPr>
            <a:r>
              <a:rPr sz="2100" b="0">
                <a:solidFill>
                  <a:srgbClr val="0F172A"/>
                </a:solidFill>
                <a:latin typeface="Open Sans"/>
                <a:ea typeface="Open Sans"/>
                <a:cs typeface="Open Sans"/>
              </a:rPr>
              <a:t>Charlotte Zhang and Nana Ge</a:t>
            </a:r>
          </a:p>
        </p:txBody>
      </p:sp>
      <p:sp>
        <p:nvSpPr>
          <p:cNvPr id="5" name="cover-context">
            <a:extLst xmlns:a="http://schemas.openxmlformats.org/drawingml/2006/main">
              <a:ext uri="{FF2B5EF4-FFF2-40B4-BE49-F238E27FC236}">
                <a16:creationId xmlns:a16="http://schemas.microsoft.com/office/drawing/2014/main" id="{F8BD1D6D-B200-49FE-A437-0F4FD93DCE52}"/>
              </a:ext>
            </a:extLst>
          </p:cNvPr>
          <p:cNvSpPr>
            <a:spLocks xmlns:a="http://schemas.openxmlformats.org/drawingml/2006/main" noGrp="1"/>
          </p:cNvSpPr>
          <p:nvPr/>
        </p:nvSpPr>
        <p:spPr>
          <a:xfrm xmlns:a="http://schemas.openxmlformats.org/drawingml/2006/main">
            <a:off x="5467350" y="4810125"/>
            <a:ext cx="581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5595F"/>
                </a:solidFill>
                <a:latin typeface="Open Sans"/>
                <a:ea typeface="Open Sans"/>
                <a:cs typeface="Open Sans"/>
              </a:defRPr>
            </a:defPPr>
          </a:lstStyle>
          <a:p xmlns:a="http://schemas.openxmlformats.org/drawingml/2006/main">
            <a:pPr>
              <a:defRPr sz="1800" b="0">
                <a:solidFill>
                  <a:srgbClr val="55595F"/>
                </a:solidFill>
                <a:latin typeface="Open Sans"/>
                <a:ea typeface="Open Sans"/>
                <a:cs typeface="Open Sans"/>
              </a:defRPr>
            </a:pPr>
            <a:r>
              <a:rPr sz="1800" b="0">
                <a:solidFill>
                  <a:srgbClr val="55595F"/>
                </a:solidFill>
                <a:latin typeface="Open Sans"/>
                <a:ea typeface="Open Sans"/>
                <a:cs typeface="Open Sans"/>
              </a:rPr>
              <a:t>AI infrastructure configuration review</a:t>
            </a:r>
          </a:p>
          <a:p xmlns:a="http://schemas.openxmlformats.org/drawingml/2006/main">
            <a:pPr>
              <a:defRPr sz="1800" b="0">
                <a:solidFill>
                  <a:srgbClr val="55595F"/>
                </a:solidFill>
                <a:latin typeface="Open Sans"/>
                <a:ea typeface="Open Sans"/>
                <a:cs typeface="Open Sans"/>
              </a:defRPr>
            </a:pPr>
            <a:r>
              <a:rPr sz="1800" b="0">
                <a:solidFill>
                  <a:srgbClr val="55595F"/>
                </a:solidFill>
                <a:latin typeface="Open Sans"/>
                <a:ea typeface="Open Sans"/>
                <a:cs typeface="Open Sans"/>
              </a:rPr>
              <a:t>Five controls with reproducible offline evidence</a:t>
            </a:r>
          </a:p>
        </p:txBody>
      </p:sp>
    </p:spTree>
    <p:extLst>
      <p:ext uri="{BB962C8B-B14F-4D97-AF65-F5344CB8AC3E}">
        <p14:creationId xmlns:p14="http://schemas.microsoft.com/office/powerpoint/2010/main" val="1659125814"/>
      </p:ext>
    </p:extLst>
  </p:cSld>
</p:sld>
</file>

<file path=ppt/slides/slide2.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8FADFC2A-D2ED-42C7-A11F-68FE998EAF85}"/>
              </a:ext>
            </a:extLst>
          </p:cNvPr>
          <p:cNvPicPr>
            <a:picLocks xmlns:a="http://schemas.openxmlformats.org/drawingml/2006/main" noChangeAspect="1"/>
          </p:cNvPicPr>
          <p:nvPr/>
        </p:nvPicPr>
        <p:blipFill>
          <a:blip xmlns:r="http://schemas.openxmlformats.org/officeDocument/2006/relationships" xmlns:a="http://schemas.openxmlformats.org/drawingml/2006/main" r:embed="R8d189cffa0ec4ffb"/>
          <a:stretch xmlns:a="http://schemas.openxmlformats.org/drawingml/2006/main"/>
        </p:blipFill>
        <p:spPr>
          <a:xfrm xmlns:a="http://schemas.openxmlformats.org/drawingml/2006/main">
            <a:off x="16" y="0"/>
            <a:ext cx="4445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835BF5A4-8BFB-4E8E-931C-AD468EEE0F40}"/>
              </a:ext>
            </a:extLst>
          </p:cNvPr>
          <p:cNvSpPr>
            <a:spLocks xmlns:a="http://schemas.openxmlformats.org/drawingml/2006/main" noGrp="1"/>
          </p:cNvSpPr>
          <p:nvPr/>
        </p:nvSpPr>
        <p:spPr>
          <a:xfrm xmlns:a="http://schemas.openxmlformats.org/drawingml/2006/main">
            <a:off x="723900" y="4000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C41230"/>
                </a:solidFill>
                <a:latin typeface="Open Sans"/>
                <a:ea typeface="Open Sans"/>
                <a:cs typeface="Open Sans"/>
              </a:defRPr>
            </a:defPPr>
          </a:lstStyle>
          <a:p xmlns:a="http://schemas.openxmlformats.org/drawingml/2006/main">
            <a:pPr>
              <a:defRPr sz="1200" b="1">
                <a:solidFill>
                  <a:srgbClr val="C41230"/>
                </a:solidFill>
                <a:latin typeface="Open Sans"/>
                <a:ea typeface="Open Sans"/>
                <a:cs typeface="Open Sans"/>
              </a:defRPr>
            </a:pPr>
            <a:r>
              <a:rPr sz="1200" b="1">
                <a:solidFill>
                  <a:srgbClr val="C41230"/>
                </a:solidFill>
                <a:latin typeface="Open Sans"/>
                <a:ea typeface="Open Sans"/>
                <a:cs typeface="Open Sans"/>
              </a:rPr>
              <a:t>PROBLEM STATEMENT</a:t>
            </a:r>
          </a:p>
        </p:txBody>
      </p:sp>
      <p:sp>
        <p:nvSpPr>
          <p:cNvPr id="3" name="title">
            <a:extLst xmlns:a="http://schemas.openxmlformats.org/drawingml/2006/main">
              <a:ext uri="{FF2B5EF4-FFF2-40B4-BE49-F238E27FC236}">
                <a16:creationId xmlns:a16="http://schemas.microsoft.com/office/drawing/2014/main" id="{937A6EB8-51BB-4ED0-A56A-4B9284C61D8E}"/>
              </a:ext>
            </a:extLst>
          </p:cNvPr>
          <p:cNvSpPr>
            <a:spLocks xmlns:a="http://schemas.openxmlformats.org/drawingml/2006/main" noGrp="1"/>
          </p:cNvSpPr>
          <p:nvPr/>
        </p:nvSpPr>
        <p:spPr>
          <a:xfrm xmlns:a="http://schemas.openxmlformats.org/drawingml/2006/main">
            <a:off x="723900" y="838200"/>
            <a:ext cx="10744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0">
                <a:solidFill>
                  <a:srgbClr val="55595F"/>
                </a:solidFill>
                <a:latin typeface="Open Sans"/>
                <a:ea typeface="Open Sans"/>
                <a:cs typeface="Open Sans"/>
              </a:defRPr>
            </a:defPPr>
          </a:lstStyle>
          <a:p xmlns:a="http://schemas.openxmlformats.org/drawingml/2006/main">
            <a:pPr>
              <a:defRPr sz="2925" b="0">
                <a:solidFill>
                  <a:srgbClr val="55595F"/>
                </a:solidFill>
                <a:latin typeface="Open Sans"/>
                <a:ea typeface="Open Sans"/>
                <a:cs typeface="Open Sans"/>
              </a:defRPr>
            </a:pPr>
            <a:r>
              <a:rPr sz="2925" b="0">
                <a:solidFill>
                  <a:srgbClr val="55595F"/>
                </a:solidFill>
                <a:latin typeface="Open Sans"/>
                <a:ea typeface="Open Sans"/>
                <a:cs typeface="Open Sans"/>
              </a:rPr>
              <a:t>Configuration changes need repeatable security review</a:t>
            </a:r>
          </a:p>
        </p:txBody>
      </p:sp>
      <p:sp>
        <p:nvSpPr>
          <p:cNvPr id="4" name="footer">
            <a:extLst xmlns:a="http://schemas.openxmlformats.org/drawingml/2006/main">
              <a:ext uri="{FF2B5EF4-FFF2-40B4-BE49-F238E27FC236}">
                <a16:creationId xmlns:a16="http://schemas.microsoft.com/office/drawing/2014/main" id="{8455CFED-2BF3-4D23-90F9-7DFA2556BAD8}"/>
              </a:ext>
            </a:extLst>
          </p:cNvPr>
          <p:cNvSpPr>
            <a:spLocks xmlns:a="http://schemas.openxmlformats.org/drawingml/2006/main" noGrp="1"/>
          </p:cNvSpPr>
          <p:nvPr/>
        </p:nvSpPr>
        <p:spPr>
          <a:xfrm xmlns:a="http://schemas.openxmlformats.org/drawingml/2006/main">
            <a:off x="7239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55595F"/>
                </a:solidFill>
                <a:latin typeface="Open Sans"/>
                <a:ea typeface="Open Sans"/>
                <a:cs typeface="Open Sans"/>
              </a:defRPr>
            </a:defPPr>
          </a:lstStyle>
          <a:p xmlns:a="http://schemas.openxmlformats.org/drawingml/2006/main">
            <a:pPr>
              <a:defRPr sz="975" b="0">
                <a:solidFill>
                  <a:srgbClr val="55595F"/>
                </a:solidFill>
                <a:latin typeface="Open Sans"/>
                <a:ea typeface="Open Sans"/>
                <a:cs typeface="Open Sans"/>
              </a:defRPr>
            </a:pPr>
            <a:r>
              <a:rPr sz="975" b="0">
                <a:solidFill>
                  <a:srgbClr val="55595F"/>
                </a:solidFill>
                <a:latin typeface="Open Sans"/>
                <a:ea typeface="Open Sans"/>
                <a:cs typeface="Open Sans"/>
              </a:rPr>
              <a:t>Carnegie Mellon University   /   Charlotte Zhang &amp; Nana Ge   /   2</a:t>
            </a:r>
          </a:p>
        </p:txBody>
      </p:sp>
      <p:sp>
        <p:nvSpPr>
          <p:cNvPr id="5" name="problem-a">
            <a:extLst xmlns:a="http://schemas.openxmlformats.org/drawingml/2006/main">
              <a:ext uri="{FF2B5EF4-FFF2-40B4-BE49-F238E27FC236}">
                <a16:creationId xmlns:a16="http://schemas.microsoft.com/office/drawing/2014/main" id="{3B865090-9631-4361-B574-698533E10360}"/>
              </a:ext>
            </a:extLst>
          </p:cNvPr>
          <p:cNvSpPr>
            <a:spLocks xmlns:a="http://schemas.openxmlformats.org/drawingml/2006/main" noGrp="1"/>
          </p:cNvSpPr>
          <p:nvPr/>
        </p:nvSpPr>
        <p:spPr>
          <a:xfrm xmlns:a="http://schemas.openxmlformats.org/drawingml/2006/main">
            <a:off x="762000" y="209550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B2A49"/>
                </a:solidFill>
                <a:latin typeface="Open Sans"/>
                <a:ea typeface="Open Sans"/>
                <a:cs typeface="Open Sans"/>
              </a:defRPr>
            </a:defPPr>
          </a:lstStyle>
          <a:p xmlns:a="http://schemas.openxmlformats.org/drawingml/2006/main">
            <a:pPr>
              <a:defRPr sz="2100" b="1">
                <a:solidFill>
                  <a:srgbClr val="1B2A49"/>
                </a:solidFill>
                <a:latin typeface="Open Sans"/>
                <a:ea typeface="Open Sans"/>
                <a:cs typeface="Open Sans"/>
              </a:defRPr>
            </a:pPr>
            <a:r>
              <a:rPr sz="2100" b="1">
                <a:solidFill>
                  <a:srgbClr val="1B2A49"/>
                </a:solidFill>
                <a:latin typeface="Open Sans"/>
                <a:ea typeface="Open Sans"/>
                <a:cs typeface="Open Sans"/>
              </a:rPr>
              <a:t>AI infrastructure changes</a:t>
            </a:r>
          </a:p>
        </p:txBody>
      </p:sp>
      <p:sp>
        <p:nvSpPr>
          <p:cNvPr id="6" name="problem-a-body">
            <a:extLst xmlns:a="http://schemas.openxmlformats.org/drawingml/2006/main">
              <a:ext uri="{FF2B5EF4-FFF2-40B4-BE49-F238E27FC236}">
                <a16:creationId xmlns:a16="http://schemas.microsoft.com/office/drawing/2014/main" id="{0AE82FDC-CD47-4339-8E76-3A66F9E4CE88}"/>
              </a:ext>
            </a:extLst>
          </p:cNvPr>
          <p:cNvSpPr>
            <a:spLocks xmlns:a="http://schemas.openxmlformats.org/drawingml/2006/main" noGrp="1"/>
          </p:cNvSpPr>
          <p:nvPr/>
        </p:nvSpPr>
        <p:spPr>
          <a:xfrm xmlns:a="http://schemas.openxmlformats.org/drawingml/2006/main">
            <a:off x="762000" y="2714625"/>
            <a:ext cx="314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F172A"/>
                </a:solidFill>
                <a:latin typeface="Open Sans"/>
                <a:ea typeface="Open Sans"/>
                <a:cs typeface="Open Sans"/>
              </a:defRPr>
            </a:defPPr>
          </a:lstStyle>
          <a:p xmlns:a="http://schemas.openxmlformats.org/drawingml/2006/main">
            <a:pPr>
              <a:defRPr sz="2025" b="0">
                <a:solidFill>
                  <a:srgbClr val="0F172A"/>
                </a:solidFill>
                <a:latin typeface="Open Sans"/>
                <a:ea typeface="Open Sans"/>
                <a:cs typeface="Open Sans"/>
              </a:defRPr>
            </a:pPr>
            <a:r>
              <a:rPr sz="2025" b="0">
                <a:solidFill>
                  <a:srgbClr val="0F172A"/>
                </a:solidFill>
                <a:latin typeface="Open Sans"/>
                <a:ea typeface="Open Sans"/>
                <a:cs typeface="Open Sans"/>
              </a:rPr>
              <a:t>Training buckets, identities and compute settings evolve as teams experiment.</a:t>
            </a:r>
          </a:p>
        </p:txBody>
      </p:sp>
      <p:sp>
        <p:nvSpPr>
          <p:cNvPr id="7" name="problem-b">
            <a:extLst xmlns:a="http://schemas.openxmlformats.org/drawingml/2006/main">
              <a:ext uri="{FF2B5EF4-FFF2-40B4-BE49-F238E27FC236}">
                <a16:creationId xmlns:a16="http://schemas.microsoft.com/office/drawing/2014/main" id="{6A2A38B1-92F6-4A7F-A3EC-7073FFBF6C62}"/>
              </a:ext>
            </a:extLst>
          </p:cNvPr>
          <p:cNvSpPr>
            <a:spLocks xmlns:a="http://schemas.openxmlformats.org/drawingml/2006/main" noGrp="1"/>
          </p:cNvSpPr>
          <p:nvPr/>
        </p:nvSpPr>
        <p:spPr>
          <a:xfrm xmlns:a="http://schemas.openxmlformats.org/drawingml/2006/main">
            <a:off x="4476750" y="2095500"/>
            <a:ext cx="319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B2A49"/>
                </a:solidFill>
                <a:latin typeface="Open Sans"/>
                <a:ea typeface="Open Sans"/>
                <a:cs typeface="Open Sans"/>
              </a:defRPr>
            </a:defPPr>
          </a:lstStyle>
          <a:p xmlns:a="http://schemas.openxmlformats.org/drawingml/2006/main">
            <a:pPr>
              <a:defRPr sz="2100" b="1">
                <a:solidFill>
                  <a:srgbClr val="1B2A49"/>
                </a:solidFill>
                <a:latin typeface="Open Sans"/>
                <a:ea typeface="Open Sans"/>
                <a:cs typeface="Open Sans"/>
              </a:defRPr>
            </a:pPr>
            <a:r>
              <a:rPr sz="2100" b="1">
                <a:solidFill>
                  <a:srgbClr val="1B2A49"/>
                </a:solidFill>
                <a:latin typeface="Open Sans"/>
                <a:ea typeface="Open Sans"/>
                <a:cs typeface="Open Sans"/>
              </a:rPr>
              <a:t>Manual checks repeat</a:t>
            </a:r>
          </a:p>
        </p:txBody>
      </p:sp>
      <p:sp>
        <p:nvSpPr>
          <p:cNvPr id="8" name="problem-b-body">
            <a:extLst xmlns:a="http://schemas.openxmlformats.org/drawingml/2006/main">
              <a:ext uri="{FF2B5EF4-FFF2-40B4-BE49-F238E27FC236}">
                <a16:creationId xmlns:a16="http://schemas.microsoft.com/office/drawing/2014/main" id="{1AC74F17-77D8-452F-AF78-A4E436E47E1F}"/>
              </a:ext>
            </a:extLst>
          </p:cNvPr>
          <p:cNvSpPr>
            <a:spLocks xmlns:a="http://schemas.openxmlformats.org/drawingml/2006/main" noGrp="1"/>
          </p:cNvSpPr>
          <p:nvPr/>
        </p:nvSpPr>
        <p:spPr>
          <a:xfrm xmlns:a="http://schemas.openxmlformats.org/drawingml/2006/main">
            <a:off x="4476750" y="2714625"/>
            <a:ext cx="3095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F172A"/>
                </a:solidFill>
                <a:latin typeface="Open Sans"/>
                <a:ea typeface="Open Sans"/>
                <a:cs typeface="Open Sans"/>
              </a:defRPr>
            </a:defPPr>
          </a:lstStyle>
          <a:p xmlns:a="http://schemas.openxmlformats.org/drawingml/2006/main">
            <a:pPr>
              <a:defRPr sz="2025" b="0">
                <a:solidFill>
                  <a:srgbClr val="0F172A"/>
                </a:solidFill>
                <a:latin typeface="Open Sans"/>
                <a:ea typeface="Open Sans"/>
                <a:cs typeface="Open Sans"/>
              </a:defRPr>
            </a:pPr>
            <a:r>
              <a:rPr sz="2025" b="0">
                <a:solidFill>
                  <a:srgbClr val="0F172A"/>
                </a:solidFill>
                <a:latin typeface="Open Sans"/>
                <a:ea typeface="Open Sans"/>
                <a:cs typeface="Open Sans"/>
              </a:rPr>
              <a:t>Reviewers collect the same configuration evidence and reconstruct context.</a:t>
            </a:r>
          </a:p>
        </p:txBody>
      </p:sp>
      <p:sp>
        <p:nvSpPr>
          <p:cNvPr id="9" name="problem-c">
            <a:extLst xmlns:a="http://schemas.openxmlformats.org/drawingml/2006/main">
              <a:ext uri="{FF2B5EF4-FFF2-40B4-BE49-F238E27FC236}">
                <a16:creationId xmlns:a16="http://schemas.microsoft.com/office/drawing/2014/main" id="{5751A965-349B-47AA-AF63-2592ED30BBE0}"/>
              </a:ext>
            </a:extLst>
          </p:cNvPr>
          <p:cNvSpPr>
            <a:spLocks xmlns:a="http://schemas.openxmlformats.org/drawingml/2006/main" noGrp="1"/>
          </p:cNvSpPr>
          <p:nvPr/>
        </p:nvSpPr>
        <p:spPr>
          <a:xfrm xmlns:a="http://schemas.openxmlformats.org/drawingml/2006/main">
            <a:off x="8143875" y="209550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B2A49"/>
                </a:solidFill>
                <a:latin typeface="Open Sans"/>
                <a:ea typeface="Open Sans"/>
                <a:cs typeface="Open Sans"/>
              </a:defRPr>
            </a:defPPr>
          </a:lstStyle>
          <a:p xmlns:a="http://schemas.openxmlformats.org/drawingml/2006/main">
            <a:pPr>
              <a:defRPr sz="2100" b="1">
                <a:solidFill>
                  <a:srgbClr val="1B2A49"/>
                </a:solidFill>
                <a:latin typeface="Open Sans"/>
                <a:ea typeface="Open Sans"/>
                <a:cs typeface="Open Sans"/>
              </a:defRPr>
            </a:pPr>
            <a:r>
              <a:rPr sz="2100" b="1">
                <a:solidFill>
                  <a:srgbClr val="1B2A49"/>
                </a:solidFill>
                <a:latin typeface="Open Sans"/>
                <a:ea typeface="Open Sans"/>
                <a:cs typeface="Open Sans"/>
              </a:rPr>
              <a:t>Evidence needs context</a:t>
            </a:r>
          </a:p>
        </p:txBody>
      </p:sp>
      <p:sp>
        <p:nvSpPr>
          <p:cNvPr id="10" name="problem-c-body">
            <a:extLst xmlns:a="http://schemas.openxmlformats.org/drawingml/2006/main">
              <a:ext uri="{FF2B5EF4-FFF2-40B4-BE49-F238E27FC236}">
                <a16:creationId xmlns:a16="http://schemas.microsoft.com/office/drawing/2014/main" id="{C2C275A2-B6F5-40B5-B224-4F96D71D33D2}"/>
              </a:ext>
            </a:extLst>
          </p:cNvPr>
          <p:cNvSpPr>
            <a:spLocks xmlns:a="http://schemas.openxmlformats.org/drawingml/2006/main" noGrp="1"/>
          </p:cNvSpPr>
          <p:nvPr/>
        </p:nvSpPr>
        <p:spPr>
          <a:xfrm xmlns:a="http://schemas.openxmlformats.org/drawingml/2006/main">
            <a:off x="8143875" y="2714625"/>
            <a:ext cx="314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F172A"/>
                </a:solidFill>
                <a:latin typeface="Open Sans"/>
                <a:ea typeface="Open Sans"/>
                <a:cs typeface="Open Sans"/>
              </a:defRPr>
            </a:defPPr>
          </a:lstStyle>
          <a:p xmlns:a="http://schemas.openxmlformats.org/drawingml/2006/main">
            <a:pPr>
              <a:defRPr sz="2025" b="0">
                <a:solidFill>
                  <a:srgbClr val="0F172A"/>
                </a:solidFill>
                <a:latin typeface="Open Sans"/>
                <a:ea typeface="Open Sans"/>
                <a:cs typeface="Open Sans"/>
              </a:defRPr>
            </a:pPr>
            <a:r>
              <a:rPr sz="2025" b="0">
                <a:solidFill>
                  <a:srgbClr val="0F172A"/>
                </a:solidFill>
                <a:latin typeface="Open Sans"/>
                <a:ea typeface="Open Sans"/>
                <a:cs typeface="Open Sans"/>
              </a:rPr>
              <a:t>Missing access can hide gaps. A failed baseline still needs human interpretation.</a:t>
            </a:r>
          </a:p>
        </p:txBody>
      </p:sp>
      <p:sp>
        <p:nvSpPr>
          <p:cNvPr id="11" name="takeaway">
            <a:extLst xmlns:a="http://schemas.openxmlformats.org/drawingml/2006/main">
              <a:ext uri="{FF2B5EF4-FFF2-40B4-BE49-F238E27FC236}">
                <a16:creationId xmlns:a16="http://schemas.microsoft.com/office/drawing/2014/main" id="{51E3DB73-E8BC-46C8-9EBC-37815888F47B}"/>
              </a:ext>
            </a:extLst>
          </p:cNvPr>
          <p:cNvSpPr>
            <a:spLocks xmlns:a="http://schemas.openxmlformats.org/drawingml/2006/main" noGrp="1"/>
          </p:cNvSpPr>
          <p:nvPr/>
        </p:nvSpPr>
        <p:spPr>
          <a:xfrm xmlns:a="http://schemas.openxmlformats.org/drawingml/2006/main">
            <a:off x="762000" y="52387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C41230"/>
                </a:solidFill>
                <a:latin typeface="Open Sans"/>
                <a:ea typeface="Open Sans"/>
                <a:cs typeface="Open Sans"/>
              </a:defRPr>
            </a:defPPr>
          </a:lstStyle>
          <a:p xmlns:a="http://schemas.openxmlformats.org/drawingml/2006/main">
            <a:pPr>
              <a:defRPr sz="2250" b="1">
                <a:solidFill>
                  <a:srgbClr val="C41230"/>
                </a:solidFill>
                <a:latin typeface="Open Sans"/>
                <a:ea typeface="Open Sans"/>
                <a:cs typeface="Open Sans"/>
              </a:defRPr>
            </a:pPr>
            <a:r>
              <a:rPr sz="2250" b="1">
                <a:solidFill>
                  <a:srgbClr val="C41230"/>
                </a:solidFill>
                <a:latin typeface="Open Sans"/>
                <a:ea typeface="Open Sans"/>
                <a:cs typeface="Open Sans"/>
              </a:rPr>
              <a:t>Goal: consistent evidence and faster triage for five selected checks.</a:t>
            </a:r>
          </a:p>
        </p:txBody>
      </p:sp>
    </p:spTree>
    <p:extLst>
      <p:ext uri="{BB962C8B-B14F-4D97-AF65-F5344CB8AC3E}">
        <p14:creationId xmlns:p14="http://schemas.microsoft.com/office/powerpoint/2010/main" val="1258168446"/>
      </p:ext>
    </p:extLst>
  </p:cSld>
</p:sld>
</file>

<file path=ppt/slides/slide3.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443D9E5-D629-4F29-9092-C8810615A71E}"/>
              </a:ext>
            </a:extLst>
          </p:cNvPr>
          <p:cNvPicPr>
            <a:picLocks xmlns:a="http://schemas.openxmlformats.org/drawingml/2006/main" noChangeAspect="1"/>
          </p:cNvPicPr>
          <p:nvPr/>
        </p:nvPicPr>
        <p:blipFill>
          <a:blip xmlns:r="http://schemas.openxmlformats.org/officeDocument/2006/relationships" xmlns:a="http://schemas.openxmlformats.org/drawingml/2006/main" r:embed="R7a25025623c24268"/>
          <a:stretch xmlns:a="http://schemas.openxmlformats.org/drawingml/2006/main"/>
        </p:blipFill>
        <p:spPr>
          <a:xfrm xmlns:a="http://schemas.openxmlformats.org/drawingml/2006/main">
            <a:off x="16" y="0"/>
            <a:ext cx="4445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7DD8E471-5BCF-444E-B739-8BE041D760A4}"/>
              </a:ext>
            </a:extLst>
          </p:cNvPr>
          <p:cNvSpPr>
            <a:spLocks xmlns:a="http://schemas.openxmlformats.org/drawingml/2006/main" noGrp="1"/>
          </p:cNvSpPr>
          <p:nvPr/>
        </p:nvSpPr>
        <p:spPr>
          <a:xfrm xmlns:a="http://schemas.openxmlformats.org/drawingml/2006/main">
            <a:off x="723900" y="4000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C41230"/>
                </a:solidFill>
                <a:latin typeface="Open Sans"/>
                <a:ea typeface="Open Sans"/>
                <a:cs typeface="Open Sans"/>
              </a:defRPr>
            </a:defPPr>
          </a:lstStyle>
          <a:p xmlns:a="http://schemas.openxmlformats.org/drawingml/2006/main">
            <a:pPr>
              <a:defRPr sz="1200" b="1">
                <a:solidFill>
                  <a:srgbClr val="C41230"/>
                </a:solidFill>
                <a:latin typeface="Open Sans"/>
                <a:ea typeface="Open Sans"/>
                <a:cs typeface="Open Sans"/>
              </a:defRPr>
            </a:pPr>
            <a:r>
              <a:rPr sz="1200" b="1">
                <a:solidFill>
                  <a:srgbClr val="C41230"/>
                </a:solidFill>
                <a:latin typeface="Open Sans"/>
                <a:ea typeface="Open Sans"/>
                <a:cs typeface="Open Sans"/>
              </a:rPr>
              <a:t>AUTOMATION OPPORTUNITY</a:t>
            </a:r>
          </a:p>
        </p:txBody>
      </p:sp>
      <p:sp>
        <p:nvSpPr>
          <p:cNvPr id="3" name="title">
            <a:extLst xmlns:a="http://schemas.openxmlformats.org/drawingml/2006/main">
              <a:ext uri="{FF2B5EF4-FFF2-40B4-BE49-F238E27FC236}">
                <a16:creationId xmlns:a16="http://schemas.microsoft.com/office/drawing/2014/main" id="{48A5FF41-D7B0-484C-9BB8-66E4B9FF71A2}"/>
              </a:ext>
            </a:extLst>
          </p:cNvPr>
          <p:cNvSpPr>
            <a:spLocks xmlns:a="http://schemas.openxmlformats.org/drawingml/2006/main" noGrp="1"/>
          </p:cNvSpPr>
          <p:nvPr/>
        </p:nvSpPr>
        <p:spPr>
          <a:xfrm xmlns:a="http://schemas.openxmlformats.org/drawingml/2006/main">
            <a:off x="723900" y="838200"/>
            <a:ext cx="10744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0">
                <a:solidFill>
                  <a:srgbClr val="55595F"/>
                </a:solidFill>
                <a:latin typeface="Open Sans"/>
                <a:ea typeface="Open Sans"/>
                <a:cs typeface="Open Sans"/>
              </a:defRPr>
            </a:defPPr>
          </a:lstStyle>
          <a:p xmlns:a="http://schemas.openxmlformats.org/drawingml/2006/main">
            <a:pPr>
              <a:defRPr sz="2925" b="0">
                <a:solidFill>
                  <a:srgbClr val="55595F"/>
                </a:solidFill>
                <a:latin typeface="Open Sans"/>
                <a:ea typeface="Open Sans"/>
                <a:cs typeface="Open Sans"/>
              </a:defRPr>
            </a:pPr>
            <a:r>
              <a:rPr sz="2925" b="0">
                <a:solidFill>
                  <a:srgbClr val="55595F"/>
                </a:solidFill>
                <a:latin typeface="Open Sans"/>
                <a:ea typeface="Open Sans"/>
                <a:cs typeface="Open Sans"/>
              </a:rPr>
              <a:t>A small baseline with explicit operating boundaries</a:t>
            </a:r>
          </a:p>
        </p:txBody>
      </p:sp>
      <p:sp>
        <p:nvSpPr>
          <p:cNvPr id="4" name="footer">
            <a:extLst xmlns:a="http://schemas.openxmlformats.org/drawingml/2006/main">
              <a:ext uri="{FF2B5EF4-FFF2-40B4-BE49-F238E27FC236}">
                <a16:creationId xmlns:a16="http://schemas.microsoft.com/office/drawing/2014/main" id="{E5EB3DB4-403F-4E5A-A6AC-AE59C15F092D}"/>
              </a:ext>
            </a:extLst>
          </p:cNvPr>
          <p:cNvSpPr>
            <a:spLocks xmlns:a="http://schemas.openxmlformats.org/drawingml/2006/main" noGrp="1"/>
          </p:cNvSpPr>
          <p:nvPr/>
        </p:nvSpPr>
        <p:spPr>
          <a:xfrm xmlns:a="http://schemas.openxmlformats.org/drawingml/2006/main">
            <a:off x="7239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55595F"/>
                </a:solidFill>
                <a:latin typeface="Open Sans"/>
                <a:ea typeface="Open Sans"/>
                <a:cs typeface="Open Sans"/>
              </a:defRPr>
            </a:defPPr>
          </a:lstStyle>
          <a:p xmlns:a="http://schemas.openxmlformats.org/drawingml/2006/main">
            <a:pPr>
              <a:defRPr sz="975" b="0">
                <a:solidFill>
                  <a:srgbClr val="55595F"/>
                </a:solidFill>
                <a:latin typeface="Open Sans"/>
                <a:ea typeface="Open Sans"/>
                <a:cs typeface="Open Sans"/>
              </a:defRPr>
            </a:pPr>
            <a:r>
              <a:rPr sz="975" b="0">
                <a:solidFill>
                  <a:srgbClr val="55595F"/>
                </a:solidFill>
                <a:latin typeface="Open Sans"/>
                <a:ea typeface="Open Sans"/>
                <a:cs typeface="Open Sans"/>
              </a:rPr>
              <a:t>Carnegie Mellon University   /   Charlotte Zhang &amp; Nana Ge   /   3</a:t>
            </a:r>
          </a:p>
        </p:txBody>
      </p:sp>
      <p:graphicFrame>
        <p:nvGraphicFramePr>
          <p:cNvPr id="5" name="">
            <a:extLst xmlns:a="http://schemas.openxmlformats.org/drawingml/2006/main">
              <a:ext uri="{FF2B5EF4-FFF2-40B4-BE49-F238E27FC236}">
                <a16:creationId xmlns:a16="http://schemas.microsoft.com/office/drawing/2014/main" id="{B7781C8A-72BE-4446-8CCA-941D61A65113}"/>
              </a:ext>
            </a:extLst>
          </p:cNvPr>
          <p:cNvGraphicFramePr/>
          <p:nvPr/>
        </p:nvGraphicFramePr>
        <p:xfrm>
          <a:off xmlns:a="http://schemas.openxmlformats.org/drawingml/2006/main" x="762000" y="1952625"/>
          <a:ext xmlns:a="http://schemas.openxmlformats.org/drawingml/2006/main" cx="10668000" cy="3333750"/>
        </p:xfrm>
        <a:graphic xmlns:a="http://schemas.openxmlformats.org/drawingml/2006/main">
          <a:graphicData uri="http://schemas.openxmlformats.org/drawingml/2006/table">
            <a:tbl>
              <a:tblPr/>
              <a:tblGrid>
                <a:gridCol w="1952625"/>
                <a:gridCol w="3667125"/>
                <a:gridCol w="5048250"/>
              </a:tblGrid>
              <a:tr h="555625">
                <a:tc>
                  <a:txBody>
                    <a:bodyPr lIns="95250" tIns="95250" rIns="95250" bIns="95250">
                      <a:noAutofit/>
                    </a:bodyPr>
                    <a:lstStyle/>
                    <a:p>
                      <a:r>
                        <a:rPr sz="1650" b="1">
                          <a:solidFill>
                            <a:srgbClr val="FFFFFF"/>
                          </a:solidFill>
                          <a:latin typeface="Open Sans"/>
                          <a:ea typeface="Open Sans"/>
                          <a:cs typeface="Open Sans"/>
                        </a:rPr>
                        <a:t>Dimension</a:t>
                      </a:r>
                    </a:p>
                  </a:txBody>
                  <a:tcPr marL="91440" marR="91440" marT="45720" marB="45720" anchor="ctr">
                    <a:lnL w="9525">
                      <a:solidFill>
                        <a:srgbClr val="D5DCE6"/>
                      </a:solidFill>
                      <a:prstDash val="solid"/>
                    </a:lnL>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c>
                  <a:txBody>
                    <a:bodyPr lIns="95250" tIns="95250" rIns="95250" bIns="95250">
                      <a:noAutofit/>
                    </a:bodyPr>
                    <a:lstStyle/>
                    <a:p>
                      <a:r>
                        <a:rPr sz="1650" b="1">
                          <a:solidFill>
                            <a:srgbClr val="FFFFFF"/>
                          </a:solidFill>
                          <a:latin typeface="Open Sans"/>
                          <a:ea typeface="Open Sans"/>
                          <a:cs typeface="Open Sans"/>
                        </a:rPr>
                        <a:t>Manual workflow</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c>
                  <a:txBody>
                    <a:bodyPr lIns="95250" tIns="95250" rIns="95250" bIns="95250">
                      <a:noAutofit/>
                    </a:bodyPr>
                    <a:lstStyle/>
                    <a:p>
                      <a:r>
                        <a:rPr sz="1650" b="1">
                          <a:solidFill>
                            <a:srgbClr val="FFFFFF"/>
                          </a:solidFill>
                          <a:latin typeface="Open Sans"/>
                          <a:ea typeface="Open Sans"/>
                          <a:cs typeface="Open Sans"/>
                        </a:rPr>
                        <a:t>Implemented checker</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r>
              <a:tr h="555625">
                <a:tc>
                  <a:txBody>
                    <a:bodyPr lIns="95250" tIns="95250" rIns="95250" bIns="95250">
                      <a:noAutofit/>
                    </a:bodyPr>
                    <a:lstStyle/>
                    <a:p>
                      <a:r>
                        <a:rPr sz="1725" b="0">
                          <a:solidFill>
                            <a:srgbClr val="0F172A"/>
                          </a:solidFill>
                          <a:latin typeface="Open Sans"/>
                          <a:ea typeface="Open Sans"/>
                          <a:cs typeface="Open Sans"/>
                        </a:rPr>
                        <a:t>Scope</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725" b="0">
                          <a:solidFill>
                            <a:srgbClr val="0F172A"/>
                          </a:solidFill>
                          <a:latin typeface="Open Sans"/>
                          <a:ea typeface="Open Sans"/>
                          <a:cs typeface="Open Sans"/>
                        </a:rPr>
                        <a:t>Reviewer chooses resources</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725" b="0">
                          <a:solidFill>
                            <a:srgbClr val="0F172A"/>
                          </a:solidFill>
                          <a:latin typeface="Open Sans"/>
                          <a:ea typeface="Open Sans"/>
                          <a:cs typeface="Open Sans"/>
                        </a:rPr>
                        <a:t>Explicit account, regions, buckets</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555625">
                <a:tc>
                  <a:txBody>
                    <a:bodyPr lIns="95250" tIns="95250" rIns="95250" bIns="95250">
                      <a:noAutofit/>
                    </a:bodyPr>
                    <a:lstStyle/>
                    <a:p>
                      <a:r>
                        <a:rPr sz="1725" b="0">
                          <a:solidFill>
                            <a:srgbClr val="0F172A"/>
                          </a:solidFill>
                          <a:latin typeface="Open Sans"/>
                          <a:ea typeface="Open Sans"/>
                          <a:cs typeface="Open Sans"/>
                        </a:rPr>
                        <a:t>Collection</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725" b="0">
                          <a:solidFill>
                            <a:srgbClr val="0F172A"/>
                          </a:solidFill>
                          <a:latin typeface="Open Sans"/>
                          <a:ea typeface="Open Sans"/>
                          <a:cs typeface="Open Sans"/>
                        </a:rPr>
                        <a:t>Repeated console/API checks</a:t>
                      </a:r>
                    </a:p>
                  </a:txBody>
                  <a:tcPr marL="91440" marR="91440" marT="45720" marB="45720" anchor="ctr">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725" b="0">
                          <a:solidFill>
                            <a:srgbClr val="0F172A"/>
                          </a:solidFill>
                          <a:latin typeface="Open Sans"/>
                          <a:ea typeface="Open Sans"/>
                          <a:cs typeface="Open Sans"/>
                        </a:rPr>
                        <a:t>Five repeatable control groups</a:t>
                      </a:r>
                    </a:p>
                  </a:txBody>
                  <a:tcPr marL="91440" marR="91440" marT="45720" marB="45720" anchor="ctr">
                    <a:lnR w="9525">
                      <a:solidFill>
                        <a:srgbClr val="D5DCE6"/>
                      </a:solidFill>
                      <a:prstDash val="solid"/>
                    </a:lnR>
                    <a:lnB w="9525">
                      <a:solidFill>
                        <a:srgbClr val="D5DCE6"/>
                      </a:solidFill>
                      <a:prstDash val="solid"/>
                    </a:lnB>
                    <a:solidFill>
                      <a:srgbClr val="EEF1F6"/>
                    </a:solidFill>
                  </a:tcPr>
                </a:tc>
              </a:tr>
              <a:tr h="555625">
                <a:tc>
                  <a:txBody>
                    <a:bodyPr lIns="95250" tIns="95250" rIns="95250" bIns="95250">
                      <a:noAutofit/>
                    </a:bodyPr>
                    <a:lstStyle/>
                    <a:p>
                      <a:r>
                        <a:rPr sz="1725" b="0">
                          <a:solidFill>
                            <a:srgbClr val="0F172A"/>
                          </a:solidFill>
                          <a:latin typeface="Open Sans"/>
                          <a:ea typeface="Open Sans"/>
                          <a:cs typeface="Open Sans"/>
                        </a:rPr>
                        <a:t>Evidence</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725" b="0">
                          <a:solidFill>
                            <a:srgbClr val="0F172A"/>
                          </a:solidFill>
                          <a:latin typeface="Open Sans"/>
                          <a:ea typeface="Open Sans"/>
                          <a:cs typeface="Open Sans"/>
                        </a:rPr>
                        <a:t>Notes and screenshots</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725" b="0">
                          <a:solidFill>
                            <a:srgbClr val="0F172A"/>
                          </a:solidFill>
                          <a:latin typeface="Open Sans"/>
                          <a:ea typeface="Open Sans"/>
                          <a:cs typeface="Open Sans"/>
                        </a:rPr>
                        <a:t>Stable findings + JSON/MD/HTML</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555625">
                <a:tc>
                  <a:txBody>
                    <a:bodyPr lIns="95250" tIns="95250" rIns="95250" bIns="95250">
                      <a:noAutofit/>
                    </a:bodyPr>
                    <a:lstStyle/>
                    <a:p>
                      <a:r>
                        <a:rPr sz="1725" b="0">
                          <a:solidFill>
                            <a:srgbClr val="0F172A"/>
                          </a:solidFill>
                          <a:latin typeface="Open Sans"/>
                          <a:ea typeface="Open Sans"/>
                          <a:cs typeface="Open Sans"/>
                        </a:rPr>
                        <a:t>Uncertainty</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725" b="0">
                          <a:solidFill>
                            <a:srgbClr val="0F172A"/>
                          </a:solidFill>
                          <a:latin typeface="Open Sans"/>
                          <a:ea typeface="Open Sans"/>
                          <a:cs typeface="Open Sans"/>
                        </a:rPr>
                        <a:t>Follow-up investigation</a:t>
                      </a:r>
                    </a:p>
                  </a:txBody>
                  <a:tcPr marL="91440" marR="91440" marT="45720" marB="45720" anchor="ctr">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725" b="0">
                          <a:solidFill>
                            <a:srgbClr val="0F172A"/>
                          </a:solidFill>
                          <a:latin typeface="Open Sans"/>
                          <a:ea typeface="Open Sans"/>
                          <a:cs typeface="Open Sans"/>
                        </a:rPr>
                        <a:t>UNKNOWN + incomplete coverage</a:t>
                      </a:r>
                    </a:p>
                  </a:txBody>
                  <a:tcPr marL="91440" marR="91440" marT="45720" marB="45720" anchor="ctr">
                    <a:lnR w="9525">
                      <a:solidFill>
                        <a:srgbClr val="D5DCE6"/>
                      </a:solidFill>
                      <a:prstDash val="solid"/>
                    </a:lnR>
                    <a:lnB w="9525">
                      <a:solidFill>
                        <a:srgbClr val="D5DCE6"/>
                      </a:solidFill>
                      <a:prstDash val="solid"/>
                    </a:lnB>
                    <a:solidFill>
                      <a:srgbClr val="EEF1F6"/>
                    </a:solidFill>
                  </a:tcPr>
                </a:tc>
              </a:tr>
              <a:tr h="555625">
                <a:tc>
                  <a:txBody>
                    <a:bodyPr lIns="95250" tIns="95250" rIns="95250" bIns="95250">
                      <a:noAutofit/>
                    </a:bodyPr>
                    <a:lstStyle/>
                    <a:p>
                      <a:r>
                        <a:rPr sz="1725" b="0">
                          <a:solidFill>
                            <a:srgbClr val="0F172A"/>
                          </a:solidFill>
                          <a:latin typeface="Open Sans"/>
                          <a:ea typeface="Open Sans"/>
                          <a:cs typeface="Open Sans"/>
                        </a:rPr>
                        <a:t>Review</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725" b="0">
                          <a:solidFill>
                            <a:srgbClr val="0F172A"/>
                          </a:solidFill>
                          <a:latin typeface="Open Sans"/>
                          <a:ea typeface="Open Sans"/>
                          <a:cs typeface="Open Sans"/>
                        </a:rPr>
                        <a:t>Human interpretation</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725" b="0">
                          <a:solidFill>
                            <a:srgbClr val="0F172A"/>
                          </a:solidFill>
                          <a:latin typeface="Open Sans"/>
                          <a:ea typeface="Open Sans"/>
                          <a:cs typeface="Open Sans"/>
                        </a:rPr>
                        <a:t>Human interpretation remains</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bl>
          </a:graphicData>
        </a:graphic>
      </p:graphicFrame>
      <p:sp>
        <p:nvSpPr>
          <p:cNvPr id="6" name="benefit">
            <a:extLst xmlns:a="http://schemas.openxmlformats.org/drawingml/2006/main">
              <a:ext uri="{FF2B5EF4-FFF2-40B4-BE49-F238E27FC236}">
                <a16:creationId xmlns:a16="http://schemas.microsoft.com/office/drawing/2014/main" id="{144A2784-59B3-4077-95BB-FD18BEA46C2C}"/>
              </a:ext>
            </a:extLst>
          </p:cNvPr>
          <p:cNvSpPr>
            <a:spLocks xmlns:a="http://schemas.openxmlformats.org/drawingml/2006/main" noGrp="1"/>
          </p:cNvSpPr>
          <p:nvPr/>
        </p:nvSpPr>
        <p:spPr>
          <a:xfrm xmlns:a="http://schemas.openxmlformats.org/drawingml/2006/main">
            <a:off x="762000" y="5524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5595F"/>
                </a:solidFill>
                <a:latin typeface="Open Sans"/>
                <a:ea typeface="Open Sans"/>
                <a:cs typeface="Open Sans"/>
              </a:defRPr>
            </a:defPPr>
          </a:lstStyle>
          <a:p xmlns:a="http://schemas.openxmlformats.org/drawingml/2006/main">
            <a:pPr>
              <a:defRPr sz="1800" b="0">
                <a:solidFill>
                  <a:srgbClr val="55595F"/>
                </a:solidFill>
                <a:latin typeface="Open Sans"/>
                <a:ea typeface="Open Sans"/>
                <a:cs typeface="Open Sans"/>
              </a:defRPr>
            </a:pPr>
            <a:r>
              <a:rPr sz="1800" b="0">
                <a:solidFill>
                  <a:srgbClr val="55595F"/>
                </a:solidFill>
                <a:latin typeface="Open Sans"/>
                <a:ea typeface="Open Sans"/>
                <a:cs typeface="Open Sans"/>
              </a:rPr>
              <a:t>Planning example: 15 to 5 human minutes per daily run. Assumptions on slide 10.</a:t>
            </a:r>
          </a:p>
        </p:txBody>
      </p:sp>
    </p:spTree>
    <p:extLst>
      <p:ext uri="{BB962C8B-B14F-4D97-AF65-F5344CB8AC3E}">
        <p14:creationId xmlns:p14="http://schemas.microsoft.com/office/powerpoint/2010/main" val="907810875"/>
      </p:ext>
    </p:extLst>
  </p:cSld>
</p:sld>
</file>

<file path=ppt/slides/slide4.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F30B5D50-5BC4-4E53-BBEF-97B261F4E595}"/>
              </a:ext>
            </a:extLst>
          </p:cNvPr>
          <p:cNvCxnSpPr>
            <a:stCxn xmlns:a="http://schemas.openxmlformats.org/drawingml/2006/main" id="11" idx="2"/>
            <a:endCxn xmlns:a="http://schemas.openxmlformats.org/drawingml/2006/main" id="12" idx="0"/>
          </p:cNvCxnSpPr>
          <p:nvPr/>
        </p:nvCxnSpPr>
        <p:spPr>
          <a:xfrm xmlns:a="http://schemas.openxmlformats.org/drawingml/2006/main">
            <a:off x="9191625" y="4857750"/>
            <a:ext cx="0" cy="190500"/>
          </a:xfrm>
          <a:prstGeom xmlns:a="http://schemas.openxmlformats.org/drawingml/2006/main" prst="straightConnector1">
            <a:avLst/>
          </a:prstGeom>
          <a:ln xmlns:a="http://schemas.openxmlformats.org/drawingml/2006/main" w="19050">
            <a:solidFill>
              <a:srgbClr val="55595F"/>
            </a:solidFill>
            <a:tailEnd type="arrow" w="med" len="med"/>
          </a:ln>
        </p:spPr>
      </p:cxnSp>
      <p:cxnSp>
        <p:nvCxnSpPr>
          <p:cNvPr id="14" name="">
            <a:extLst xmlns:a="http://schemas.openxmlformats.org/drawingml/2006/main">
              <a:ext uri="{FF2B5EF4-FFF2-40B4-BE49-F238E27FC236}">
                <a16:creationId xmlns:a16="http://schemas.microsoft.com/office/drawing/2014/main" id="{63C8C0E5-E064-4B64-B3C4-770E19E924EE}"/>
              </a:ext>
            </a:extLst>
          </p:cNvPr>
          <p:cNvCxnSpPr>
            <a:stCxn xmlns:a="http://schemas.openxmlformats.org/drawingml/2006/main" id="10" idx="2"/>
            <a:endCxn xmlns:a="http://schemas.openxmlformats.org/drawingml/2006/main" id="11" idx="0"/>
          </p:cNvCxnSpPr>
          <p:nvPr/>
        </p:nvCxnSpPr>
        <p:spPr>
          <a:xfrm xmlns:a="http://schemas.openxmlformats.org/drawingml/2006/main">
            <a:off x="9191625" y="3857625"/>
            <a:ext cx="0" cy="190500"/>
          </a:xfrm>
          <a:prstGeom xmlns:a="http://schemas.openxmlformats.org/drawingml/2006/main" prst="straightConnector1">
            <a:avLst/>
          </a:prstGeom>
          <a:ln xmlns:a="http://schemas.openxmlformats.org/drawingml/2006/main" w="19050">
            <a:solidFill>
              <a:srgbClr val="55595F"/>
            </a:solidFill>
            <a:tailEnd type="arrow" w="med" len="med"/>
          </a:ln>
        </p:spPr>
      </p:cxnSp>
      <p:cxnSp>
        <p:nvCxnSpPr>
          <p:cNvPr id="13" name="">
            <a:extLst xmlns:a="http://schemas.openxmlformats.org/drawingml/2006/main">
              <a:ext uri="{FF2B5EF4-FFF2-40B4-BE49-F238E27FC236}">
                <a16:creationId xmlns:a16="http://schemas.microsoft.com/office/drawing/2014/main" id="{7404DFAB-EA22-465B-9689-6F7447DE6B7F}"/>
              </a:ext>
            </a:extLst>
          </p:cNvPr>
          <p:cNvCxnSpPr>
            <a:stCxn xmlns:a="http://schemas.openxmlformats.org/drawingml/2006/main" id="6" idx="3"/>
            <a:endCxn xmlns:a="http://schemas.openxmlformats.org/drawingml/2006/main" id="10" idx="1"/>
          </p:cNvCxnSpPr>
          <p:nvPr/>
        </p:nvCxnSpPr>
        <p:spPr>
          <a:xfrm xmlns:a="http://schemas.openxmlformats.org/drawingml/2006/main" flipV="1">
            <a:off x="6143625" y="3429000"/>
            <a:ext cx="1190625" cy="123825"/>
          </a:xfrm>
          <a:prstGeom xmlns:a="http://schemas.openxmlformats.org/drawingml/2006/main" prst="straightConnector1">
            <a:avLst/>
          </a:prstGeom>
          <a:ln xmlns:a="http://schemas.openxmlformats.org/drawingml/2006/main" w="19050">
            <a:solidFill>
              <a:srgbClr val="55595F"/>
            </a:solidFill>
            <a:tailEnd type="arrow" w="med" len="med"/>
          </a:ln>
        </p:spPr>
      </p:cxnSp>
      <p:cxnSp>
        <p:nvCxnSpPr>
          <p:cNvPr id="9" name="">
            <a:extLst xmlns:a="http://schemas.openxmlformats.org/drawingml/2006/main">
              <a:ext uri="{FF2B5EF4-FFF2-40B4-BE49-F238E27FC236}">
                <a16:creationId xmlns:a16="http://schemas.microsoft.com/office/drawing/2014/main" id="{EA833781-ACCB-4155-B318-C46147F7BAA1}"/>
              </a:ext>
            </a:extLst>
          </p:cNvPr>
          <p:cNvCxnSpPr>
            <a:stCxn xmlns:a="http://schemas.openxmlformats.org/drawingml/2006/main" id="6" idx="0"/>
            <a:endCxn xmlns:a="http://schemas.openxmlformats.org/drawingml/2006/main" id="8" idx="2"/>
          </p:cNvCxnSpPr>
          <p:nvPr/>
        </p:nvCxnSpPr>
        <p:spPr>
          <a:xfrm xmlns:a="http://schemas.openxmlformats.org/drawingml/2006/main" flipV="1">
            <a:off x="4953000" y="2581275"/>
            <a:ext cx="1143000" cy="466725"/>
          </a:xfrm>
          <a:prstGeom xmlns:a="http://schemas.openxmlformats.org/drawingml/2006/main" prst="straightConnector1">
            <a:avLst/>
          </a:prstGeom>
          <a:ln xmlns:a="http://schemas.openxmlformats.org/drawingml/2006/main" w="19050">
            <a:solidFill>
              <a:srgbClr val="55595F"/>
            </a:solidFill>
            <a:tailEnd type="arrow" w="med" len="med"/>
          </a:ln>
        </p:spPr>
      </p:cxnSp>
      <p:cxnSp>
        <p:nvCxnSpPr>
          <p:cNvPr id="7" name="">
            <a:extLst xmlns:a="http://schemas.openxmlformats.org/drawingml/2006/main">
              <a:ext uri="{FF2B5EF4-FFF2-40B4-BE49-F238E27FC236}">
                <a16:creationId xmlns:a16="http://schemas.microsoft.com/office/drawing/2014/main" id="{20A537DD-6E3D-48BC-A511-86BBE0964442}"/>
              </a:ext>
            </a:extLst>
          </p:cNvPr>
          <p:cNvCxnSpPr>
            <a:stCxn xmlns:a="http://schemas.openxmlformats.org/drawingml/2006/main" id="5" idx="3"/>
            <a:endCxn xmlns:a="http://schemas.openxmlformats.org/drawingml/2006/main" id="6" idx="1"/>
          </p:cNvCxnSpPr>
          <p:nvPr/>
        </p:nvCxnSpPr>
        <p:spPr>
          <a:xfrm xmlns:a="http://schemas.openxmlformats.org/drawingml/2006/main">
            <a:off x="3000375" y="3552825"/>
            <a:ext cx="762000" cy="0"/>
          </a:xfrm>
          <a:prstGeom xmlns:a="http://schemas.openxmlformats.org/drawingml/2006/main" prst="straightConnector1">
            <a:avLst/>
          </a:prstGeom>
          <a:ln xmlns:a="http://schemas.openxmlformats.org/drawingml/2006/main" w="19050">
            <a:solidFill>
              <a:srgbClr val="55595F"/>
            </a:solidFill>
            <a:tailEnd type="arrow" w="med" len="med"/>
          </a:ln>
        </p:spPr>
      </p:cxnSp>
      <p:pic>
        <p:nvPicPr>
          <p:cNvPr id="18" name="">
            <a:extLst xmlns:a="http://schemas.openxmlformats.org/drawingml/2006/main">
              <a:ext uri="{FF2B5EF4-FFF2-40B4-BE49-F238E27FC236}">
                <a16:creationId xmlns:a16="http://schemas.microsoft.com/office/drawing/2014/main" id="{2C3F1AD0-1CA0-4546-865F-6FEDF5DBD130}"/>
              </a:ext>
            </a:extLst>
          </p:cNvPr>
          <p:cNvPicPr>
            <a:picLocks xmlns:a="http://schemas.openxmlformats.org/drawingml/2006/main" noChangeAspect="1"/>
          </p:cNvPicPr>
          <p:nvPr/>
        </p:nvPicPr>
        <p:blipFill>
          <a:blip xmlns:r="http://schemas.openxmlformats.org/officeDocument/2006/relationships" xmlns:a="http://schemas.openxmlformats.org/drawingml/2006/main" r:embed="R98216d73849843e5"/>
          <a:stretch xmlns:a="http://schemas.openxmlformats.org/drawingml/2006/main"/>
        </p:blipFill>
        <p:spPr>
          <a:xfrm xmlns:a="http://schemas.openxmlformats.org/drawingml/2006/main">
            <a:off x="16" y="0"/>
            <a:ext cx="4445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4A1CCDEC-FA91-46C9-9ABB-A61ADF2E8BD8}"/>
              </a:ext>
            </a:extLst>
          </p:cNvPr>
          <p:cNvSpPr>
            <a:spLocks xmlns:a="http://schemas.openxmlformats.org/drawingml/2006/main" noGrp="1"/>
          </p:cNvSpPr>
          <p:nvPr/>
        </p:nvSpPr>
        <p:spPr>
          <a:xfrm xmlns:a="http://schemas.openxmlformats.org/drawingml/2006/main">
            <a:off x="723900" y="4000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C41230"/>
                </a:solidFill>
                <a:latin typeface="Open Sans"/>
                <a:ea typeface="Open Sans"/>
                <a:cs typeface="Open Sans"/>
              </a:defRPr>
            </a:defPPr>
          </a:lstStyle>
          <a:p xmlns:a="http://schemas.openxmlformats.org/drawingml/2006/main">
            <a:pPr>
              <a:defRPr sz="1200" b="1">
                <a:solidFill>
                  <a:srgbClr val="C41230"/>
                </a:solidFill>
                <a:latin typeface="Open Sans"/>
                <a:ea typeface="Open Sans"/>
                <a:cs typeface="Open Sans"/>
              </a:defRPr>
            </a:pPr>
            <a:r>
              <a:rPr sz="1200" b="1">
                <a:solidFill>
                  <a:srgbClr val="C41230"/>
                </a:solidFill>
                <a:latin typeface="Open Sans"/>
                <a:ea typeface="Open Sans"/>
                <a:cs typeface="Open Sans"/>
              </a:rPr>
              <a:t>SOLUTION ARCHITECTURE</a:t>
            </a:r>
          </a:p>
        </p:txBody>
      </p:sp>
      <p:sp>
        <p:nvSpPr>
          <p:cNvPr id="3" name="title">
            <a:extLst xmlns:a="http://schemas.openxmlformats.org/drawingml/2006/main">
              <a:ext uri="{FF2B5EF4-FFF2-40B4-BE49-F238E27FC236}">
                <a16:creationId xmlns:a16="http://schemas.microsoft.com/office/drawing/2014/main" id="{FD0D69E9-95AC-4FAC-B857-3407497B06FD}"/>
              </a:ext>
            </a:extLst>
          </p:cNvPr>
          <p:cNvSpPr>
            <a:spLocks xmlns:a="http://schemas.openxmlformats.org/drawingml/2006/main" noGrp="1"/>
          </p:cNvSpPr>
          <p:nvPr/>
        </p:nvSpPr>
        <p:spPr>
          <a:xfrm xmlns:a="http://schemas.openxmlformats.org/drawingml/2006/main">
            <a:off x="723900" y="838200"/>
            <a:ext cx="10744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0">
                <a:solidFill>
                  <a:srgbClr val="55595F"/>
                </a:solidFill>
                <a:latin typeface="Open Sans"/>
                <a:ea typeface="Open Sans"/>
                <a:cs typeface="Open Sans"/>
              </a:defRPr>
            </a:defPPr>
          </a:lstStyle>
          <a:p xmlns:a="http://schemas.openxmlformats.org/drawingml/2006/main">
            <a:pPr>
              <a:defRPr sz="2925" b="0">
                <a:solidFill>
                  <a:srgbClr val="55595F"/>
                </a:solidFill>
                <a:latin typeface="Open Sans"/>
                <a:ea typeface="Open Sans"/>
                <a:cs typeface="Open Sans"/>
              </a:defRPr>
            </a:pPr>
            <a:r>
              <a:rPr sz="2925" b="0">
                <a:solidFill>
                  <a:srgbClr val="55595F"/>
                </a:solidFill>
                <a:latin typeface="Open Sans"/>
                <a:ea typeface="Open Sans"/>
                <a:cs typeface="Open Sans"/>
              </a:rPr>
              <a:t>Read-only inspection with controlled report delivery</a:t>
            </a:r>
          </a:p>
        </p:txBody>
      </p:sp>
      <p:sp>
        <p:nvSpPr>
          <p:cNvPr id="4" name="footer">
            <a:extLst xmlns:a="http://schemas.openxmlformats.org/drawingml/2006/main">
              <a:ext uri="{FF2B5EF4-FFF2-40B4-BE49-F238E27FC236}">
                <a16:creationId xmlns:a16="http://schemas.microsoft.com/office/drawing/2014/main" id="{9CCB5597-F8C6-442A-8ACD-D82597DFDFE9}"/>
              </a:ext>
            </a:extLst>
          </p:cNvPr>
          <p:cNvSpPr>
            <a:spLocks xmlns:a="http://schemas.openxmlformats.org/drawingml/2006/main" noGrp="1"/>
          </p:cNvSpPr>
          <p:nvPr/>
        </p:nvSpPr>
        <p:spPr>
          <a:xfrm xmlns:a="http://schemas.openxmlformats.org/drawingml/2006/main">
            <a:off x="7239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55595F"/>
                </a:solidFill>
                <a:latin typeface="Open Sans"/>
                <a:ea typeface="Open Sans"/>
                <a:cs typeface="Open Sans"/>
              </a:defRPr>
            </a:defPPr>
          </a:lstStyle>
          <a:p xmlns:a="http://schemas.openxmlformats.org/drawingml/2006/main">
            <a:pPr>
              <a:defRPr sz="975" b="0">
                <a:solidFill>
                  <a:srgbClr val="55595F"/>
                </a:solidFill>
                <a:latin typeface="Open Sans"/>
                <a:ea typeface="Open Sans"/>
                <a:cs typeface="Open Sans"/>
              </a:defRPr>
            </a:pPr>
            <a:r>
              <a:rPr sz="975" b="0">
                <a:solidFill>
                  <a:srgbClr val="55595F"/>
                </a:solidFill>
                <a:latin typeface="Open Sans"/>
                <a:ea typeface="Open Sans"/>
                <a:cs typeface="Open Sans"/>
              </a:rPr>
              <a:t>Carnegie Mellon University   /   Charlotte Zhang &amp; Nana Ge   /   4</a:t>
            </a:r>
          </a:p>
        </p:txBody>
      </p:sp>
      <p:sp>
        <p:nvSpPr>
          <p:cNvPr id="5" name="eventbridge">
            <a:extLst xmlns:a="http://schemas.openxmlformats.org/drawingml/2006/main">
              <a:ext uri="{FF2B5EF4-FFF2-40B4-BE49-F238E27FC236}">
                <a16:creationId xmlns:a16="http://schemas.microsoft.com/office/drawing/2014/main" id="{447BBFA1-8D17-43CC-BA5D-EB5E59F6AEAE}"/>
              </a:ext>
            </a:extLst>
          </p:cNvPr>
          <p:cNvSpPr>
            <a:spLocks xmlns:a="http://schemas.openxmlformats.org/drawingml/2006/main" noGrp="1"/>
          </p:cNvSpPr>
          <p:nvPr/>
        </p:nvSpPr>
        <p:spPr>
          <a:xfrm xmlns:a="http://schemas.openxmlformats.org/drawingml/2006/main">
            <a:off x="762000" y="3048000"/>
            <a:ext cx="2238375" cy="10096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6"/>
            </a:solidFill>
          </a:ln>
        </p:spPr>
        <p:txBody>
          <a:bodyPr xmlns:a="http://schemas.openxmlformats.org/drawingml/2006/main" wrap="square" lIns="133350" tIns="133350" rIns="133350" bIns="133350" anchor="ctr"/>
          <a:lstStyle xmlns:a="http://schemas.openxmlformats.org/drawingml/2006/main">
            <a:defPPr algn="ctr">
              <a:defRPr sz="1725" b="1">
                <a:solidFill>
                  <a:srgbClr val="0F172A"/>
                </a:solidFill>
                <a:latin typeface="Open Sans"/>
                <a:ea typeface="Open Sans"/>
                <a:cs typeface="Open Sans"/>
              </a:defRPr>
            </a:defPPr>
          </a:lstStyle>
          <a:p xmlns:a="http://schemas.openxmlformats.org/drawingml/2006/main">
            <a:pPr algn="ctr">
              <a:defRPr sz="1725" b="1">
                <a:solidFill>
                  <a:srgbClr val="0F172A"/>
                </a:solidFill>
                <a:latin typeface="Open Sans"/>
                <a:ea typeface="Open Sans"/>
                <a:cs typeface="Open Sans"/>
              </a:defRPr>
            </a:pPr>
            <a:r>
              <a:rPr sz="1725" b="1">
                <a:solidFill>
                  <a:srgbClr val="0F172A"/>
                </a:solidFill>
                <a:latin typeface="Open Sans"/>
                <a:ea typeface="Open Sans"/>
                <a:cs typeface="Open Sans"/>
              </a:rPr>
              <a:t>EventBridge</a:t>
            </a:r>
          </a:p>
          <a:p xmlns:a="http://schemas.openxmlformats.org/drawingml/2006/main">
            <a:pPr algn="ctr">
              <a:defRPr sz="1725" b="1">
                <a:solidFill>
                  <a:srgbClr val="0F172A"/>
                </a:solidFill>
                <a:latin typeface="Open Sans"/>
                <a:ea typeface="Open Sans"/>
                <a:cs typeface="Open Sans"/>
              </a:defRPr>
            </a:pPr>
            <a:r>
              <a:rPr sz="1725" b="1">
                <a:solidFill>
                  <a:srgbClr val="0F172A"/>
                </a:solidFill>
                <a:latin typeface="Open Sans"/>
                <a:ea typeface="Open Sans"/>
                <a:cs typeface="Open Sans"/>
              </a:rPr>
              <a:t>Daily / weekly</a:t>
            </a:r>
          </a:p>
        </p:txBody>
      </p:sp>
      <p:sp>
        <p:nvSpPr>
          <p:cNvPr id="6" name="lambda">
            <a:extLst xmlns:a="http://schemas.openxmlformats.org/drawingml/2006/main">
              <a:ext uri="{FF2B5EF4-FFF2-40B4-BE49-F238E27FC236}">
                <a16:creationId xmlns:a16="http://schemas.microsoft.com/office/drawing/2014/main" id="{52FDB5C4-87E8-4A12-9FEC-495B0306CE69}"/>
              </a:ext>
            </a:extLst>
          </p:cNvPr>
          <p:cNvSpPr>
            <a:spLocks xmlns:a="http://schemas.openxmlformats.org/drawingml/2006/main" noGrp="1"/>
          </p:cNvSpPr>
          <p:nvPr/>
        </p:nvSpPr>
        <p:spPr>
          <a:xfrm xmlns:a="http://schemas.openxmlformats.org/drawingml/2006/main">
            <a:off x="3762375" y="3048000"/>
            <a:ext cx="2381250" cy="1009650"/>
          </a:xfrm>
          <a:prstGeom xmlns:a="http://schemas.openxmlformats.org/drawingml/2006/main" prst="rect">
            <a:avLst/>
          </a:prstGeom>
          <a:solidFill xmlns:a="http://schemas.openxmlformats.org/drawingml/2006/main">
            <a:srgbClr val="1B2A49"/>
          </a:solidFill>
          <a:ln xmlns:a="http://schemas.openxmlformats.org/drawingml/2006/main" w="9525">
            <a:solidFill>
              <a:srgbClr val="D5DCE6"/>
            </a:solidFill>
          </a:ln>
        </p:spPr>
        <p:txBody>
          <a:bodyPr xmlns:a="http://schemas.openxmlformats.org/drawingml/2006/main" wrap="square" lIns="133350" tIns="133350" rIns="133350" bIns="133350" anchor="ctr"/>
          <a:lstStyle xmlns:a="http://schemas.openxmlformats.org/drawingml/2006/main">
            <a:defPPr algn="ctr">
              <a:defRPr sz="1725" b="1">
                <a:solidFill>
                  <a:srgbClr val="FFFFFF"/>
                </a:solidFill>
                <a:latin typeface="Open Sans"/>
                <a:ea typeface="Open Sans"/>
                <a:cs typeface="Open Sans"/>
              </a:defRPr>
            </a:defPPr>
          </a:lstStyle>
          <a:p xmlns:a="http://schemas.openxmlformats.org/drawingml/2006/main">
            <a:pPr algn="ctr">
              <a:defRPr sz="1725" b="1">
                <a:solidFill>
                  <a:srgbClr val="FFFFFF"/>
                </a:solidFill>
                <a:latin typeface="Open Sans"/>
                <a:ea typeface="Open Sans"/>
                <a:cs typeface="Open Sans"/>
              </a:defRPr>
            </a:pPr>
            <a:r>
              <a:rPr sz="1725" b="1">
                <a:solidFill>
                  <a:srgbClr val="FFFFFF"/>
                </a:solidFill>
                <a:latin typeface="Open Sans"/>
                <a:ea typeface="Open Sans"/>
                <a:cs typeface="Open Sans"/>
              </a:rPr>
              <a:t>Lambda checker</a:t>
            </a:r>
          </a:p>
          <a:p xmlns:a="http://schemas.openxmlformats.org/drawingml/2006/main">
            <a:pPr algn="ctr">
              <a:defRPr sz="1725" b="1">
                <a:solidFill>
                  <a:srgbClr val="FFFFFF"/>
                </a:solidFill>
                <a:latin typeface="Open Sans"/>
                <a:ea typeface="Open Sans"/>
                <a:cs typeface="Open Sans"/>
              </a:defRPr>
            </a:pPr>
            <a:r>
              <a:rPr sz="1725" b="1">
                <a:solidFill>
                  <a:srgbClr val="FFFFFF"/>
                </a:solidFill>
                <a:latin typeface="Open Sans"/>
                <a:ea typeface="Open Sans"/>
                <a:cs typeface="Open Sans"/>
              </a:rPr>
              <a:t>Python / boto3</a:t>
            </a:r>
          </a:p>
        </p:txBody>
      </p:sp>
      <p:sp>
        <p:nvSpPr>
          <p:cNvPr id="8" name="aws-reads">
            <a:extLst xmlns:a="http://schemas.openxmlformats.org/drawingml/2006/main">
              <a:ext uri="{FF2B5EF4-FFF2-40B4-BE49-F238E27FC236}">
                <a16:creationId xmlns:a16="http://schemas.microsoft.com/office/drawing/2014/main" id="{ABEEF6A6-DA57-456E-B26C-422C1EE7791D}"/>
              </a:ext>
            </a:extLst>
          </p:cNvPr>
          <p:cNvSpPr>
            <a:spLocks xmlns:a="http://schemas.openxmlformats.org/drawingml/2006/main" noGrp="1"/>
          </p:cNvSpPr>
          <p:nvPr/>
        </p:nvSpPr>
        <p:spPr>
          <a:xfrm xmlns:a="http://schemas.openxmlformats.org/drawingml/2006/main">
            <a:off x="3524250" y="1857375"/>
            <a:ext cx="51435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6"/>
            </a:solidFill>
          </a:ln>
        </p:spPr>
        <p:txBody>
          <a:bodyPr xmlns:a="http://schemas.openxmlformats.org/drawingml/2006/main" wrap="square" lIns="133350" tIns="133350" rIns="133350" bIns="133350" anchor="ctr"/>
          <a:lstStyle xmlns:a="http://schemas.openxmlformats.org/drawingml/2006/main">
            <a:defPPr algn="ctr">
              <a:defRPr sz="1725" b="1">
                <a:solidFill>
                  <a:srgbClr val="0F172A"/>
                </a:solidFill>
                <a:latin typeface="Open Sans"/>
                <a:ea typeface="Open Sans"/>
                <a:cs typeface="Open Sans"/>
              </a:defRPr>
            </a:defPPr>
          </a:lstStyle>
          <a:p xmlns:a="http://schemas.openxmlformats.org/drawingml/2006/main">
            <a:pPr algn="ctr">
              <a:defRPr sz="1725" b="1">
                <a:solidFill>
                  <a:srgbClr val="0F172A"/>
                </a:solidFill>
                <a:latin typeface="Open Sans"/>
                <a:ea typeface="Open Sans"/>
                <a:cs typeface="Open Sans"/>
              </a:defRPr>
            </a:pPr>
            <a:r>
              <a:rPr sz="1725" b="1">
                <a:solidFill>
                  <a:srgbClr val="0F172A"/>
                </a:solidFill>
                <a:latin typeface="Open Sans"/>
                <a:ea typeface="Open Sans"/>
                <a:cs typeface="Open Sans"/>
              </a:rPr>
              <a:t>S3, IAM, EC2, CloudTrail</a:t>
            </a:r>
          </a:p>
          <a:p xmlns:a="http://schemas.openxmlformats.org/drawingml/2006/main">
            <a:pPr algn="ctr">
              <a:defRPr sz="1725" b="1">
                <a:solidFill>
                  <a:srgbClr val="0F172A"/>
                </a:solidFill>
                <a:latin typeface="Open Sans"/>
                <a:ea typeface="Open Sans"/>
                <a:cs typeface="Open Sans"/>
              </a:defRPr>
            </a:pPr>
            <a:r>
              <a:rPr sz="1725" b="1">
                <a:solidFill>
                  <a:srgbClr val="0F172A"/>
                </a:solidFill>
                <a:latin typeface="Open Sans"/>
                <a:ea typeface="Open Sans"/>
                <a:cs typeface="Open Sans"/>
              </a:rPr>
              <a:t>Configuration reads</a:t>
            </a:r>
          </a:p>
        </p:txBody>
      </p:sp>
      <p:sp>
        <p:nvSpPr>
          <p:cNvPr id="10" name="report-storage">
            <a:extLst xmlns:a="http://schemas.openxmlformats.org/drawingml/2006/main">
              <a:ext uri="{FF2B5EF4-FFF2-40B4-BE49-F238E27FC236}">
                <a16:creationId xmlns:a16="http://schemas.microsoft.com/office/drawing/2014/main" id="{31977577-2342-4BC1-BDCD-5C22B1AEE135}"/>
              </a:ext>
            </a:extLst>
          </p:cNvPr>
          <p:cNvSpPr>
            <a:spLocks xmlns:a="http://schemas.openxmlformats.org/drawingml/2006/main" noGrp="1"/>
          </p:cNvSpPr>
          <p:nvPr/>
        </p:nvSpPr>
        <p:spPr>
          <a:xfrm xmlns:a="http://schemas.openxmlformats.org/drawingml/2006/main">
            <a:off x="7334250" y="3000375"/>
            <a:ext cx="3714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6"/>
            </a:solidFill>
          </a:ln>
        </p:spPr>
        <p:txBody>
          <a:bodyPr xmlns:a="http://schemas.openxmlformats.org/drawingml/2006/main" wrap="square" lIns="133350" tIns="133350" rIns="133350" bIns="133350" anchor="ctr"/>
          <a:lstStyle xmlns:a="http://schemas.openxmlformats.org/drawingml/2006/main">
            <a:defPPr algn="ctr">
              <a:defRPr sz="1725" b="1">
                <a:solidFill>
                  <a:srgbClr val="0F172A"/>
                </a:solidFill>
                <a:latin typeface="Open Sans"/>
                <a:ea typeface="Open Sans"/>
                <a:cs typeface="Open Sans"/>
              </a:defRPr>
            </a:defPPr>
          </a:lstStyle>
          <a:p xmlns:a="http://schemas.openxmlformats.org/drawingml/2006/main">
            <a:pPr algn="ctr">
              <a:defRPr sz="1725" b="1">
                <a:solidFill>
                  <a:srgbClr val="0F172A"/>
                </a:solidFill>
                <a:latin typeface="Open Sans"/>
                <a:ea typeface="Open Sans"/>
                <a:cs typeface="Open Sans"/>
              </a:defRPr>
            </a:pPr>
            <a:r>
              <a:rPr sz="1725" b="1">
                <a:solidFill>
                  <a:srgbClr val="0F172A"/>
                </a:solidFill>
                <a:latin typeface="Open Sans"/>
                <a:ea typeface="Open Sans"/>
                <a:cs typeface="Open Sans"/>
              </a:rPr>
              <a:t>S3 reports</a:t>
            </a:r>
          </a:p>
          <a:p xmlns:a="http://schemas.openxmlformats.org/drawingml/2006/main">
            <a:pPr algn="ctr">
              <a:defRPr sz="1725" b="1">
                <a:solidFill>
                  <a:srgbClr val="0F172A"/>
                </a:solidFill>
                <a:latin typeface="Open Sans"/>
                <a:ea typeface="Open Sans"/>
                <a:cs typeface="Open Sans"/>
              </a:defRPr>
            </a:pPr>
            <a:r>
              <a:rPr sz="1725" b="1">
                <a:solidFill>
                  <a:srgbClr val="0F172A"/>
                </a:solidFill>
                <a:latin typeface="Open Sans"/>
                <a:ea typeface="Open Sans"/>
                <a:cs typeface="Open Sans"/>
              </a:rPr>
              <a:t>Private / KMS / TLS</a:t>
            </a:r>
          </a:p>
        </p:txBody>
      </p:sp>
      <p:sp>
        <p:nvSpPr>
          <p:cNvPr id="11" name="notifications">
            <a:extLst xmlns:a="http://schemas.openxmlformats.org/drawingml/2006/main">
              <a:ext uri="{FF2B5EF4-FFF2-40B4-BE49-F238E27FC236}">
                <a16:creationId xmlns:a16="http://schemas.microsoft.com/office/drawing/2014/main" id="{53A48A50-0BFE-48CB-9DD5-44985B265F79}"/>
              </a:ext>
            </a:extLst>
          </p:cNvPr>
          <p:cNvSpPr>
            <a:spLocks xmlns:a="http://schemas.openxmlformats.org/drawingml/2006/main" noGrp="1"/>
          </p:cNvSpPr>
          <p:nvPr/>
        </p:nvSpPr>
        <p:spPr>
          <a:xfrm xmlns:a="http://schemas.openxmlformats.org/drawingml/2006/main">
            <a:off x="7334250" y="4048125"/>
            <a:ext cx="371475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D5DCE6"/>
            </a:solidFill>
          </a:ln>
        </p:spPr>
        <p:txBody>
          <a:bodyPr xmlns:a="http://schemas.openxmlformats.org/drawingml/2006/main" wrap="square" lIns="133350" tIns="133350" rIns="133350" bIns="133350" anchor="ctr"/>
          <a:lstStyle xmlns:a="http://schemas.openxmlformats.org/drawingml/2006/main">
            <a:defPPr algn="ctr">
              <a:defRPr sz="1725" b="1">
                <a:solidFill>
                  <a:srgbClr val="0F172A"/>
                </a:solidFill>
                <a:latin typeface="Open Sans"/>
                <a:ea typeface="Open Sans"/>
                <a:cs typeface="Open Sans"/>
              </a:defRPr>
            </a:defPPr>
          </a:lstStyle>
          <a:p xmlns:a="http://schemas.openxmlformats.org/drawingml/2006/main">
            <a:pPr algn="ctr">
              <a:defRPr sz="1725" b="1">
                <a:solidFill>
                  <a:srgbClr val="0F172A"/>
                </a:solidFill>
                <a:latin typeface="Open Sans"/>
                <a:ea typeface="Open Sans"/>
                <a:cs typeface="Open Sans"/>
              </a:defRPr>
            </a:pPr>
            <a:r>
              <a:rPr sz="1725" b="1">
                <a:solidFill>
                  <a:srgbClr val="0F172A"/>
                </a:solidFill>
                <a:latin typeface="Open Sans"/>
                <a:ea typeface="Open Sans"/>
                <a:cs typeface="Open Sans"/>
              </a:rPr>
              <a:t>SNS summary</a:t>
            </a:r>
          </a:p>
          <a:p xmlns:a="http://schemas.openxmlformats.org/drawingml/2006/main">
            <a:pPr algn="ctr">
              <a:defRPr sz="1725" b="1">
                <a:solidFill>
                  <a:srgbClr val="0F172A"/>
                </a:solidFill>
                <a:latin typeface="Open Sans"/>
                <a:ea typeface="Open Sans"/>
                <a:cs typeface="Open Sans"/>
              </a:defRPr>
            </a:pPr>
            <a:r>
              <a:rPr sz="1725" b="1">
                <a:solidFill>
                  <a:srgbClr val="0F172A"/>
                </a:solidFill>
                <a:latin typeface="Open Sans"/>
                <a:ea typeface="Open Sans"/>
                <a:cs typeface="Open Sans"/>
              </a:rPr>
              <a:t>Optional email</a:t>
            </a:r>
          </a:p>
        </p:txBody>
      </p:sp>
      <p:sp>
        <p:nvSpPr>
          <p:cNvPr id="12" name="monitoring">
            <a:extLst xmlns:a="http://schemas.openxmlformats.org/drawingml/2006/main">
              <a:ext uri="{FF2B5EF4-FFF2-40B4-BE49-F238E27FC236}">
                <a16:creationId xmlns:a16="http://schemas.microsoft.com/office/drawing/2014/main" id="{9FECFD94-16BE-41E3-B4CC-8EB02AD49A39}"/>
              </a:ext>
            </a:extLst>
          </p:cNvPr>
          <p:cNvSpPr>
            <a:spLocks xmlns:a="http://schemas.openxmlformats.org/drawingml/2006/main" noGrp="1"/>
          </p:cNvSpPr>
          <p:nvPr/>
        </p:nvSpPr>
        <p:spPr>
          <a:xfrm xmlns:a="http://schemas.openxmlformats.org/drawingml/2006/main">
            <a:off x="7334250" y="5048250"/>
            <a:ext cx="371475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D5DCE6"/>
            </a:solidFill>
          </a:ln>
        </p:spPr>
        <p:txBody>
          <a:bodyPr xmlns:a="http://schemas.openxmlformats.org/drawingml/2006/main" wrap="square" lIns="133350" tIns="133350" rIns="133350" bIns="133350" anchor="ctr"/>
          <a:lstStyle xmlns:a="http://schemas.openxmlformats.org/drawingml/2006/main">
            <a:defPPr algn="ctr">
              <a:defRPr sz="1725" b="1">
                <a:solidFill>
                  <a:srgbClr val="0F172A"/>
                </a:solidFill>
                <a:latin typeface="Open Sans"/>
                <a:ea typeface="Open Sans"/>
                <a:cs typeface="Open Sans"/>
              </a:defRPr>
            </a:defPPr>
          </a:lstStyle>
          <a:p xmlns:a="http://schemas.openxmlformats.org/drawingml/2006/main">
            <a:pPr algn="ctr">
              <a:defRPr sz="1725" b="1">
                <a:solidFill>
                  <a:srgbClr val="0F172A"/>
                </a:solidFill>
                <a:latin typeface="Open Sans"/>
                <a:ea typeface="Open Sans"/>
                <a:cs typeface="Open Sans"/>
              </a:defRPr>
            </a:pPr>
            <a:r>
              <a:rPr sz="1725" b="1">
                <a:solidFill>
                  <a:srgbClr val="0F172A"/>
                </a:solidFill>
                <a:latin typeface="Open Sans"/>
                <a:ea typeface="Open Sans"/>
                <a:cs typeface="Open Sans"/>
              </a:rPr>
              <a:t>CloudWatch</a:t>
            </a:r>
          </a:p>
          <a:p xmlns:a="http://schemas.openxmlformats.org/drawingml/2006/main">
            <a:pPr algn="ctr">
              <a:defRPr sz="1725" b="1">
                <a:solidFill>
                  <a:srgbClr val="0F172A"/>
                </a:solidFill>
                <a:latin typeface="Open Sans"/>
                <a:ea typeface="Open Sans"/>
                <a:cs typeface="Open Sans"/>
              </a:defRPr>
            </a:pPr>
            <a:r>
              <a:rPr sz="1725" b="1">
                <a:solidFill>
                  <a:srgbClr val="0F172A"/>
                </a:solidFill>
                <a:latin typeface="Open Sans"/>
                <a:ea typeface="Open Sans"/>
                <a:cs typeface="Open Sans"/>
              </a:rPr>
              <a:t>Optional metrics and alarms</a:t>
            </a:r>
          </a:p>
        </p:txBody>
      </p:sp>
      <p:sp>
        <p:nvSpPr>
          <p:cNvPr id="16" name="failure-path">
            <a:extLst xmlns:a="http://schemas.openxmlformats.org/drawingml/2006/main">
              <a:ext uri="{FF2B5EF4-FFF2-40B4-BE49-F238E27FC236}">
                <a16:creationId xmlns:a16="http://schemas.microsoft.com/office/drawing/2014/main" id="{2346FAB1-85C4-48CE-93BA-B7B194FCB4D4}"/>
              </a:ext>
            </a:extLst>
          </p:cNvPr>
          <p:cNvSpPr>
            <a:spLocks xmlns:a="http://schemas.openxmlformats.org/drawingml/2006/main" noGrp="1"/>
          </p:cNvSpPr>
          <p:nvPr/>
        </p:nvSpPr>
        <p:spPr>
          <a:xfrm xmlns:a="http://schemas.openxmlformats.org/drawingml/2006/main">
            <a:off x="762000" y="4524375"/>
            <a:ext cx="5429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5595F"/>
                </a:solidFill>
                <a:latin typeface="Open Sans"/>
                <a:ea typeface="Open Sans"/>
                <a:cs typeface="Open Sans"/>
              </a:defRPr>
            </a:defPPr>
          </a:lstStyle>
          <a:p xmlns:a="http://schemas.openxmlformats.org/drawingml/2006/main">
            <a:pPr>
              <a:defRPr sz="1800" b="0">
                <a:solidFill>
                  <a:srgbClr val="55595F"/>
                </a:solidFill>
                <a:latin typeface="Open Sans"/>
                <a:ea typeface="Open Sans"/>
                <a:cs typeface="Open Sans"/>
              </a:defRPr>
            </a:pPr>
            <a:r>
              <a:rPr sz="1800" b="0">
                <a:solidFill>
                  <a:srgbClr val="55595F"/>
                </a:solidFill>
                <a:latin typeface="Open Sans"/>
                <a:ea typeface="Open Sans"/>
                <a:cs typeface="Open Sans"/>
              </a:rPr>
              <a:t>Failure handling</a:t>
            </a:r>
          </a:p>
          <a:p xmlns:a="http://schemas.openxmlformats.org/drawingml/2006/main">
            <a:pPr>
              <a:defRPr sz="1800" b="0">
                <a:solidFill>
                  <a:srgbClr val="55595F"/>
                </a:solidFill>
                <a:latin typeface="Open Sans"/>
                <a:ea typeface="Open Sans"/>
                <a:cs typeface="Open Sans"/>
              </a:defRPr>
            </a:pPr>
            <a:r>
              <a:rPr sz="1800" b="0">
                <a:solidFill>
                  <a:srgbClr val="55595F"/>
                </a:solidFill>
                <a:latin typeface="Open Sans"/>
                <a:ea typeface="Open Sans"/>
                <a:cs typeface="Open Sans"/>
              </a:rPr>
              <a:t>Bounded retries and separate SQS queues for invocation delivery and execution.</a:t>
            </a:r>
          </a:p>
        </p:txBody>
      </p:sp>
      <p:sp>
        <p:nvSpPr>
          <p:cNvPr id="17" name="arch-limit">
            <a:extLst xmlns:a="http://schemas.openxmlformats.org/drawingml/2006/main">
              <a:ext uri="{FF2B5EF4-FFF2-40B4-BE49-F238E27FC236}">
                <a16:creationId xmlns:a16="http://schemas.microsoft.com/office/drawing/2014/main" id="{EB8D0BBB-4EDB-45FB-8A4C-6E6725FCD990}"/>
              </a:ext>
            </a:extLst>
          </p:cNvPr>
          <p:cNvSpPr>
            <a:spLocks xmlns:a="http://schemas.openxmlformats.org/drawingml/2006/main" noGrp="1"/>
          </p:cNvSpPr>
          <p:nvPr/>
        </p:nvSpPr>
        <p:spPr>
          <a:xfrm xmlns:a="http://schemas.openxmlformats.org/drawingml/2006/main">
            <a:off x="762000" y="6048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5595F"/>
                </a:solidFill>
                <a:latin typeface="Open Sans"/>
                <a:ea typeface="Open Sans"/>
                <a:cs typeface="Open Sans"/>
              </a:defRPr>
            </a:defPPr>
          </a:lstStyle>
          <a:p xmlns:a="http://schemas.openxmlformats.org/drawingml/2006/main">
            <a:pPr>
              <a:defRPr sz="1500" b="0">
                <a:solidFill>
                  <a:srgbClr val="55595F"/>
                </a:solidFill>
                <a:latin typeface="Open Sans"/>
                <a:ea typeface="Open Sans"/>
                <a:cs typeface="Open Sans"/>
              </a:defRPr>
            </a:pPr>
            <a:r>
              <a:rPr sz="1500" b="0">
                <a:solidFill>
                  <a:srgbClr val="55595F"/>
                </a:solidFill>
                <a:latin typeface="Open Sans"/>
                <a:ea typeface="Open Sans"/>
                <a:cs typeface="Open Sans"/>
              </a:rPr>
              <a:t>Cloud configuration is implemented. Schedule and outputs default to disabled.</a:t>
            </a:r>
          </a:p>
        </p:txBody>
      </p:sp>
    </p:spTree>
    <p:extLst>
      <p:ext uri="{BB962C8B-B14F-4D97-AF65-F5344CB8AC3E}">
        <p14:creationId xmlns:p14="http://schemas.microsoft.com/office/powerpoint/2010/main" val="490354627"/>
      </p:ext>
    </p:extLst>
  </p:cSld>
</p:sld>
</file>

<file path=ppt/slides/slide5.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54DD3FB-D833-448D-8F8C-24732E5AF1F0}"/>
              </a:ext>
            </a:extLst>
          </p:cNvPr>
          <p:cNvPicPr>
            <a:picLocks xmlns:a="http://schemas.openxmlformats.org/drawingml/2006/main" noChangeAspect="1"/>
          </p:cNvPicPr>
          <p:nvPr/>
        </p:nvPicPr>
        <p:blipFill>
          <a:blip xmlns:r="http://schemas.openxmlformats.org/officeDocument/2006/relationships" xmlns:a="http://schemas.openxmlformats.org/drawingml/2006/main" r:embed="R5d48f5e8a82d4a0b"/>
          <a:stretch xmlns:a="http://schemas.openxmlformats.org/drawingml/2006/main"/>
        </p:blipFill>
        <p:spPr>
          <a:xfrm xmlns:a="http://schemas.openxmlformats.org/drawingml/2006/main">
            <a:off x="16" y="0"/>
            <a:ext cx="4445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DAD5662D-9345-4DDF-8788-D20368F236E9}"/>
              </a:ext>
            </a:extLst>
          </p:cNvPr>
          <p:cNvSpPr>
            <a:spLocks xmlns:a="http://schemas.openxmlformats.org/drawingml/2006/main" noGrp="1"/>
          </p:cNvSpPr>
          <p:nvPr/>
        </p:nvSpPr>
        <p:spPr>
          <a:xfrm xmlns:a="http://schemas.openxmlformats.org/drawingml/2006/main">
            <a:off x="723900" y="4000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C41230"/>
                </a:solidFill>
                <a:latin typeface="Open Sans"/>
                <a:ea typeface="Open Sans"/>
                <a:cs typeface="Open Sans"/>
              </a:defRPr>
            </a:defPPr>
          </a:lstStyle>
          <a:p xmlns:a="http://schemas.openxmlformats.org/drawingml/2006/main">
            <a:pPr>
              <a:defRPr sz="1200" b="1">
                <a:solidFill>
                  <a:srgbClr val="C41230"/>
                </a:solidFill>
                <a:latin typeface="Open Sans"/>
                <a:ea typeface="Open Sans"/>
                <a:cs typeface="Open Sans"/>
              </a:defRPr>
            </a:pPr>
            <a:r>
              <a:rPr sz="1200" b="1">
                <a:solidFill>
                  <a:srgbClr val="C41230"/>
                </a:solidFill>
                <a:latin typeface="Open Sans"/>
                <a:ea typeface="Open Sans"/>
                <a:cs typeface="Open Sans"/>
              </a:rPr>
              <a:t>AWS INTEGRATION AND SECURITY</a:t>
            </a:r>
          </a:p>
        </p:txBody>
      </p:sp>
      <p:sp>
        <p:nvSpPr>
          <p:cNvPr id="3" name="title">
            <a:extLst xmlns:a="http://schemas.openxmlformats.org/drawingml/2006/main">
              <a:ext uri="{FF2B5EF4-FFF2-40B4-BE49-F238E27FC236}">
                <a16:creationId xmlns:a16="http://schemas.microsoft.com/office/drawing/2014/main" id="{54DB26F2-E591-437B-85DC-35168D8E7DE9}"/>
              </a:ext>
            </a:extLst>
          </p:cNvPr>
          <p:cNvSpPr>
            <a:spLocks xmlns:a="http://schemas.openxmlformats.org/drawingml/2006/main" noGrp="1"/>
          </p:cNvSpPr>
          <p:nvPr/>
        </p:nvSpPr>
        <p:spPr>
          <a:xfrm xmlns:a="http://schemas.openxmlformats.org/drawingml/2006/main">
            <a:off x="723900" y="838200"/>
            <a:ext cx="10744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0">
                <a:solidFill>
                  <a:srgbClr val="55595F"/>
                </a:solidFill>
                <a:latin typeface="Open Sans"/>
                <a:ea typeface="Open Sans"/>
                <a:cs typeface="Open Sans"/>
              </a:defRPr>
            </a:defPPr>
          </a:lstStyle>
          <a:p xmlns:a="http://schemas.openxmlformats.org/drawingml/2006/main">
            <a:pPr>
              <a:defRPr sz="2925" b="0">
                <a:solidFill>
                  <a:srgbClr val="55595F"/>
                </a:solidFill>
                <a:latin typeface="Open Sans"/>
                <a:ea typeface="Open Sans"/>
                <a:cs typeface="Open Sans"/>
              </a:defRPr>
            </a:pPr>
            <a:r>
              <a:rPr sz="2925" b="0">
                <a:solidFill>
                  <a:srgbClr val="55595F"/>
                </a:solidFill>
                <a:latin typeface="Open Sans"/>
                <a:ea typeface="Open Sans"/>
                <a:cs typeface="Open Sans"/>
              </a:rPr>
              <a:t>Least privilege and explicit deployment scope</a:t>
            </a:r>
          </a:p>
        </p:txBody>
      </p:sp>
      <p:sp>
        <p:nvSpPr>
          <p:cNvPr id="4" name="footer">
            <a:extLst xmlns:a="http://schemas.openxmlformats.org/drawingml/2006/main">
              <a:ext uri="{FF2B5EF4-FFF2-40B4-BE49-F238E27FC236}">
                <a16:creationId xmlns:a16="http://schemas.microsoft.com/office/drawing/2014/main" id="{20DD0A1B-88DA-40E9-A7B9-F08F07A2ED15}"/>
              </a:ext>
            </a:extLst>
          </p:cNvPr>
          <p:cNvSpPr>
            <a:spLocks xmlns:a="http://schemas.openxmlformats.org/drawingml/2006/main" noGrp="1"/>
          </p:cNvSpPr>
          <p:nvPr/>
        </p:nvSpPr>
        <p:spPr>
          <a:xfrm xmlns:a="http://schemas.openxmlformats.org/drawingml/2006/main">
            <a:off x="7239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55595F"/>
                </a:solidFill>
                <a:latin typeface="Open Sans"/>
                <a:ea typeface="Open Sans"/>
                <a:cs typeface="Open Sans"/>
              </a:defRPr>
            </a:defPPr>
          </a:lstStyle>
          <a:p xmlns:a="http://schemas.openxmlformats.org/drawingml/2006/main">
            <a:pPr>
              <a:defRPr sz="975" b="0">
                <a:solidFill>
                  <a:srgbClr val="55595F"/>
                </a:solidFill>
                <a:latin typeface="Open Sans"/>
                <a:ea typeface="Open Sans"/>
                <a:cs typeface="Open Sans"/>
              </a:defRPr>
            </a:pPr>
            <a:r>
              <a:rPr sz="975" b="0">
                <a:solidFill>
                  <a:srgbClr val="55595F"/>
                </a:solidFill>
                <a:latin typeface="Open Sans"/>
                <a:ea typeface="Open Sans"/>
                <a:cs typeface="Open Sans"/>
              </a:rPr>
              <a:t>Carnegie Mellon University   /   Charlotte Zhang &amp; Nana Ge   /   5</a:t>
            </a:r>
          </a:p>
        </p:txBody>
      </p:sp>
      <p:graphicFrame>
        <p:nvGraphicFramePr>
          <p:cNvPr id="5" name="">
            <a:extLst xmlns:a="http://schemas.openxmlformats.org/drawingml/2006/main">
              <a:ext uri="{FF2B5EF4-FFF2-40B4-BE49-F238E27FC236}">
                <a16:creationId xmlns:a16="http://schemas.microsoft.com/office/drawing/2014/main" id="{45B7E7E9-C34D-43D6-BFC4-CBC63707EAF9}"/>
              </a:ext>
            </a:extLst>
          </p:cNvPr>
          <p:cNvGraphicFramePr/>
          <p:nvPr/>
        </p:nvGraphicFramePr>
        <p:xfrm>
          <a:off xmlns:a="http://schemas.openxmlformats.org/drawingml/2006/main" x="762000" y="1905000"/>
          <a:ext xmlns:a="http://schemas.openxmlformats.org/drawingml/2006/main" cx="10668000" cy="3429000"/>
        </p:xfrm>
        <a:graphic xmlns:a="http://schemas.openxmlformats.org/drawingml/2006/main">
          <a:graphicData uri="http://schemas.openxmlformats.org/drawingml/2006/table">
            <a:tbl>
              <a:tblPr/>
              <a:tblGrid>
                <a:gridCol w="2238375"/>
                <a:gridCol w="3333750"/>
                <a:gridCol w="5095875"/>
              </a:tblGrid>
              <a:tr h="571500">
                <a:tc>
                  <a:txBody>
                    <a:bodyPr lIns="95250" tIns="95250" rIns="95250" bIns="95250">
                      <a:noAutofit/>
                    </a:bodyPr>
                    <a:lstStyle/>
                    <a:p>
                      <a:r>
                        <a:rPr sz="1575" b="1">
                          <a:solidFill>
                            <a:srgbClr val="FFFFFF"/>
                          </a:solidFill>
                          <a:latin typeface="Open Sans"/>
                          <a:ea typeface="Open Sans"/>
                          <a:cs typeface="Open Sans"/>
                        </a:rPr>
                        <a:t>Service</a:t>
                      </a:r>
                    </a:p>
                  </a:txBody>
                  <a:tcPr marL="91440" marR="91440" marT="45720" marB="45720" anchor="ctr">
                    <a:lnL w="9525">
                      <a:solidFill>
                        <a:srgbClr val="D5DCE6"/>
                      </a:solidFill>
                      <a:prstDash val="solid"/>
                    </a:lnL>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c>
                  <a:txBody>
                    <a:bodyPr lIns="95250" tIns="95250" rIns="95250" bIns="95250">
                      <a:noAutofit/>
                    </a:bodyPr>
                    <a:lstStyle/>
                    <a:p>
                      <a:r>
                        <a:rPr sz="1575" b="1">
                          <a:solidFill>
                            <a:srgbClr val="FFFFFF"/>
                          </a:solidFill>
                          <a:latin typeface="Open Sans"/>
                          <a:ea typeface="Open Sans"/>
                          <a:cs typeface="Open Sans"/>
                        </a:rPr>
                        <a:t>Purpose</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c>
                  <a:txBody>
                    <a:bodyPr lIns="95250" tIns="95250" rIns="95250" bIns="95250">
                      <a:noAutofit/>
                    </a:bodyPr>
                    <a:lstStyle/>
                    <a:p>
                      <a:r>
                        <a:rPr sz="1575" b="1">
                          <a:solidFill>
                            <a:srgbClr val="FFFFFF"/>
                          </a:solidFill>
                          <a:latin typeface="Open Sans"/>
                          <a:ea typeface="Open Sans"/>
                          <a:cs typeface="Open Sans"/>
                        </a:rPr>
                        <a:t>Implementation boundary</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r>
              <a:tr h="571500">
                <a:tc>
                  <a:txBody>
                    <a:bodyPr lIns="95250" tIns="95250" rIns="95250" bIns="95250">
                      <a:noAutofit/>
                    </a:bodyPr>
                    <a:lstStyle/>
                    <a:p>
                      <a:r>
                        <a:rPr sz="1650" b="0">
                          <a:solidFill>
                            <a:srgbClr val="0F172A"/>
                          </a:solidFill>
                          <a:latin typeface="Open Sans"/>
                          <a:ea typeface="Open Sans"/>
                          <a:cs typeface="Open Sans"/>
                        </a:rPr>
                        <a:t>IAM + STS</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650" b="0">
                          <a:solidFill>
                            <a:srgbClr val="0F172A"/>
                          </a:solidFill>
                          <a:latin typeface="Open Sans"/>
                          <a:ea typeface="Open Sans"/>
                          <a:cs typeface="Open Sans"/>
                        </a:rPr>
                        <a:t>Identity and read scope</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650" b="0">
                          <a:solidFill>
                            <a:srgbClr val="0F172A"/>
                          </a:solidFill>
                          <a:latin typeface="Open Sans"/>
                          <a:ea typeface="Open Sans"/>
                          <a:cs typeface="Open Sans"/>
                        </a:rPr>
                        <a:t>Expected account; explicit resource policies</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571500">
                <a:tc>
                  <a:txBody>
                    <a:bodyPr lIns="95250" tIns="95250" rIns="95250" bIns="95250">
                      <a:noAutofit/>
                    </a:bodyPr>
                    <a:lstStyle/>
                    <a:p>
                      <a:r>
                        <a:rPr sz="1650" b="0">
                          <a:solidFill>
                            <a:srgbClr val="0F172A"/>
                          </a:solidFill>
                          <a:latin typeface="Open Sans"/>
                          <a:ea typeface="Open Sans"/>
                          <a:cs typeface="Open Sans"/>
                        </a:rPr>
                        <a:t>S3 + KMS</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650" b="0">
                          <a:solidFill>
                            <a:srgbClr val="0F172A"/>
                          </a:solidFill>
                          <a:latin typeface="Open Sans"/>
                          <a:ea typeface="Open Sans"/>
                          <a:cs typeface="Open Sans"/>
                        </a:rPr>
                        <a:t>Store JSON and HTML</a:t>
                      </a:r>
                    </a:p>
                  </a:txBody>
                  <a:tcPr marL="91440" marR="91440" marT="45720" marB="45720" anchor="ctr">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650" b="0">
                          <a:solidFill>
                            <a:srgbClr val="0F172A"/>
                          </a:solidFill>
                          <a:latin typeface="Open Sans"/>
                          <a:ea typeface="Open Sans"/>
                          <a:cs typeface="Open Sans"/>
                        </a:rPr>
                        <a:t>Private encrypted reports; 30-day lifecycle</a:t>
                      </a:r>
                    </a:p>
                  </a:txBody>
                  <a:tcPr marL="91440" marR="91440" marT="45720" marB="45720" anchor="ctr">
                    <a:lnR w="9525">
                      <a:solidFill>
                        <a:srgbClr val="D5DCE6"/>
                      </a:solidFill>
                      <a:prstDash val="solid"/>
                    </a:lnR>
                    <a:lnB w="9525">
                      <a:solidFill>
                        <a:srgbClr val="D5DCE6"/>
                      </a:solidFill>
                      <a:prstDash val="solid"/>
                    </a:lnB>
                    <a:solidFill>
                      <a:srgbClr val="EEF1F6"/>
                    </a:solidFill>
                  </a:tcPr>
                </a:tc>
              </a:tr>
              <a:tr h="571500">
                <a:tc>
                  <a:txBody>
                    <a:bodyPr lIns="95250" tIns="95250" rIns="95250" bIns="95250">
                      <a:noAutofit/>
                    </a:bodyPr>
                    <a:lstStyle/>
                    <a:p>
                      <a:r>
                        <a:rPr sz="1650" b="0">
                          <a:solidFill>
                            <a:srgbClr val="0F172A"/>
                          </a:solidFill>
                          <a:latin typeface="Open Sans"/>
                          <a:ea typeface="Open Sans"/>
                          <a:cs typeface="Open Sans"/>
                        </a:rPr>
                        <a:t>SNS + SQS</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650" b="0">
                          <a:solidFill>
                            <a:srgbClr val="0F172A"/>
                          </a:solidFill>
                          <a:latin typeface="Open Sans"/>
                          <a:ea typeface="Open Sans"/>
                          <a:cs typeface="Open Sans"/>
                        </a:rPr>
                        <a:t>Summary / failure handling</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650" b="0">
                          <a:solidFill>
                            <a:srgbClr val="0F172A"/>
                          </a:solidFill>
                          <a:latin typeface="Open Sans"/>
                          <a:ea typeface="Open Sans"/>
                          <a:cs typeface="Open Sans"/>
                        </a:rPr>
                        <a:t>Separate publish permission and queues</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571500">
                <a:tc>
                  <a:txBody>
                    <a:bodyPr lIns="95250" tIns="95250" rIns="95250" bIns="95250">
                      <a:noAutofit/>
                    </a:bodyPr>
                    <a:lstStyle/>
                    <a:p>
                      <a:r>
                        <a:rPr sz="1650" b="0">
                          <a:solidFill>
                            <a:srgbClr val="0F172A"/>
                          </a:solidFill>
                          <a:latin typeface="Open Sans"/>
                          <a:ea typeface="Open Sans"/>
                          <a:cs typeface="Open Sans"/>
                        </a:rPr>
                        <a:t>CloudWatch</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650" b="0">
                          <a:solidFill>
                            <a:srgbClr val="0F172A"/>
                          </a:solidFill>
                          <a:latin typeface="Open Sans"/>
                          <a:ea typeface="Open Sans"/>
                          <a:cs typeface="Open Sans"/>
                        </a:rPr>
                        <a:t>Logs and optional monitoring</a:t>
                      </a:r>
                    </a:p>
                  </a:txBody>
                  <a:tcPr marL="91440" marR="91440" marT="45720" marB="45720" anchor="ctr">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650" b="0">
                          <a:solidFill>
                            <a:srgbClr val="0F172A"/>
                          </a:solidFill>
                          <a:latin typeface="Open Sans"/>
                          <a:ea typeface="Open Sans"/>
                          <a:cs typeface="Open Sans"/>
                        </a:rPr>
                        <a:t>14-day logs; alarms have no actions</a:t>
                      </a:r>
                    </a:p>
                  </a:txBody>
                  <a:tcPr marL="91440" marR="91440" marT="45720" marB="45720" anchor="ctr">
                    <a:lnR w="9525">
                      <a:solidFill>
                        <a:srgbClr val="D5DCE6"/>
                      </a:solidFill>
                      <a:prstDash val="solid"/>
                    </a:lnR>
                    <a:lnB w="9525">
                      <a:solidFill>
                        <a:srgbClr val="D5DCE6"/>
                      </a:solidFill>
                      <a:prstDash val="solid"/>
                    </a:lnB>
                    <a:solidFill>
                      <a:srgbClr val="EEF1F6"/>
                    </a:solidFill>
                  </a:tcPr>
                </a:tc>
              </a:tr>
              <a:tr h="571500">
                <a:tc>
                  <a:txBody>
                    <a:bodyPr lIns="95250" tIns="95250" rIns="95250" bIns="95250">
                      <a:noAutofit/>
                    </a:bodyPr>
                    <a:lstStyle/>
                    <a:p>
                      <a:r>
                        <a:rPr sz="1650" b="0">
                          <a:solidFill>
                            <a:srgbClr val="0F172A"/>
                          </a:solidFill>
                          <a:latin typeface="Open Sans"/>
                          <a:ea typeface="Open Sans"/>
                          <a:cs typeface="Open Sans"/>
                        </a:rPr>
                        <a:t>SAM + EventBridge</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650" b="0">
                          <a:solidFill>
                            <a:srgbClr val="0F172A"/>
                          </a:solidFill>
                          <a:latin typeface="Open Sans"/>
                          <a:ea typeface="Open Sans"/>
                          <a:cs typeface="Open Sans"/>
                        </a:rPr>
                        <a:t>Deploy and schedule</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650" b="0">
                          <a:solidFill>
                            <a:srgbClr val="0F172A"/>
                          </a:solidFill>
                          <a:latin typeface="Open Sans"/>
                          <a:ea typeface="Open Sans"/>
                          <a:cs typeface="Open Sans"/>
                        </a:rPr>
                        <a:t>One bucket/region in sample template</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bl>
          </a:graphicData>
        </a:graphic>
      </p:graphicFrame>
      <p:sp>
        <p:nvSpPr>
          <p:cNvPr id="6" name="deployment">
            <a:extLst xmlns:a="http://schemas.openxmlformats.org/drawingml/2006/main">
              <a:ext uri="{FF2B5EF4-FFF2-40B4-BE49-F238E27FC236}">
                <a16:creationId xmlns:a16="http://schemas.microsoft.com/office/drawing/2014/main" id="{E2C128A6-8437-4FB7-A035-E1BC871F1A15}"/>
              </a:ext>
            </a:extLst>
          </p:cNvPr>
          <p:cNvSpPr>
            <a:spLocks xmlns:a="http://schemas.openxmlformats.org/drawingml/2006/main" noGrp="1"/>
          </p:cNvSpPr>
          <p:nvPr/>
        </p:nvSpPr>
        <p:spPr>
          <a:xfrm xmlns:a="http://schemas.openxmlformats.org/drawingml/2006/main">
            <a:off x="762000" y="56197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5595F"/>
                </a:solidFill>
                <a:latin typeface="Open Sans"/>
                <a:ea typeface="Open Sans"/>
                <a:cs typeface="Open Sans"/>
              </a:defRPr>
            </a:defPPr>
          </a:lstStyle>
          <a:p xmlns:a="http://schemas.openxmlformats.org/drawingml/2006/main">
            <a:pPr>
              <a:defRPr sz="1800" b="0">
                <a:solidFill>
                  <a:srgbClr val="55595F"/>
                </a:solidFill>
                <a:latin typeface="Open Sans"/>
                <a:ea typeface="Open Sans"/>
                <a:cs typeface="Open Sans"/>
              </a:defRPr>
            </a:pPr>
            <a:r>
              <a:rPr sz="1800" b="0">
                <a:solidFill>
                  <a:srgbClr val="55595F"/>
                </a:solidFill>
                <a:latin typeface="Open Sans"/>
                <a:ea typeface="Open Sans"/>
                <a:cs typeface="Open Sans"/>
              </a:rPr>
              <a:t>Pilot sequence: review scope, deploy defaults, validate reads, then enable outputs and schedule.</a:t>
            </a:r>
          </a:p>
        </p:txBody>
      </p:sp>
    </p:spTree>
    <p:extLst>
      <p:ext uri="{BB962C8B-B14F-4D97-AF65-F5344CB8AC3E}">
        <p14:creationId xmlns:p14="http://schemas.microsoft.com/office/powerpoint/2010/main" val="1418353662"/>
      </p:ext>
    </p:extLst>
  </p:cSld>
</p:sld>
</file>

<file path=ppt/slides/slide6.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E447CA3-97AC-4384-872E-C521F30F1FAC}"/>
              </a:ext>
            </a:extLst>
          </p:cNvPr>
          <p:cNvPicPr>
            <a:picLocks xmlns:a="http://schemas.openxmlformats.org/drawingml/2006/main" noChangeAspect="1"/>
          </p:cNvPicPr>
          <p:nvPr/>
        </p:nvPicPr>
        <p:blipFill>
          <a:blip xmlns:r="http://schemas.openxmlformats.org/officeDocument/2006/relationships" xmlns:a="http://schemas.openxmlformats.org/drawingml/2006/main" r:embed="R8dbf81b944e14201"/>
          <a:stretch xmlns:a="http://schemas.openxmlformats.org/drawingml/2006/main"/>
        </p:blipFill>
        <p:spPr>
          <a:xfrm xmlns:a="http://schemas.openxmlformats.org/drawingml/2006/main">
            <a:off x="16" y="0"/>
            <a:ext cx="4445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7B9B0FDF-5E8A-4C67-9998-55FADB6335F3}"/>
              </a:ext>
            </a:extLst>
          </p:cNvPr>
          <p:cNvSpPr>
            <a:spLocks xmlns:a="http://schemas.openxmlformats.org/drawingml/2006/main" noGrp="1"/>
          </p:cNvSpPr>
          <p:nvPr/>
        </p:nvSpPr>
        <p:spPr>
          <a:xfrm xmlns:a="http://schemas.openxmlformats.org/drawingml/2006/main">
            <a:off x="723900" y="4000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C41230"/>
                </a:solidFill>
                <a:latin typeface="Open Sans"/>
                <a:ea typeface="Open Sans"/>
                <a:cs typeface="Open Sans"/>
              </a:defRPr>
            </a:defPPr>
          </a:lstStyle>
          <a:p xmlns:a="http://schemas.openxmlformats.org/drawingml/2006/main">
            <a:pPr>
              <a:defRPr sz="1200" b="1">
                <a:solidFill>
                  <a:srgbClr val="C41230"/>
                </a:solidFill>
                <a:latin typeface="Open Sans"/>
                <a:ea typeface="Open Sans"/>
                <a:cs typeface="Open Sans"/>
              </a:defRPr>
            </a:pPr>
            <a:r>
              <a:rPr sz="1200" b="1">
                <a:solidFill>
                  <a:srgbClr val="C41230"/>
                </a:solidFill>
                <a:latin typeface="Open Sans"/>
                <a:ea typeface="Open Sans"/>
                <a:cs typeface="Open Sans"/>
              </a:rPr>
              <a:t>IMPLEMENTATION DESIGN</a:t>
            </a:r>
          </a:p>
        </p:txBody>
      </p:sp>
      <p:sp>
        <p:nvSpPr>
          <p:cNvPr id="3" name="title">
            <a:extLst xmlns:a="http://schemas.openxmlformats.org/drawingml/2006/main">
              <a:ext uri="{FF2B5EF4-FFF2-40B4-BE49-F238E27FC236}">
                <a16:creationId xmlns:a16="http://schemas.microsoft.com/office/drawing/2014/main" id="{DB6D38DF-4B50-4208-A22B-8632C8B4735C}"/>
              </a:ext>
            </a:extLst>
          </p:cNvPr>
          <p:cNvSpPr>
            <a:spLocks xmlns:a="http://schemas.openxmlformats.org/drawingml/2006/main" noGrp="1"/>
          </p:cNvSpPr>
          <p:nvPr/>
        </p:nvSpPr>
        <p:spPr>
          <a:xfrm xmlns:a="http://schemas.openxmlformats.org/drawingml/2006/main">
            <a:off x="723900" y="838200"/>
            <a:ext cx="10744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0">
                <a:solidFill>
                  <a:srgbClr val="55595F"/>
                </a:solidFill>
                <a:latin typeface="Open Sans"/>
                <a:ea typeface="Open Sans"/>
                <a:cs typeface="Open Sans"/>
              </a:defRPr>
            </a:defPPr>
          </a:lstStyle>
          <a:p xmlns:a="http://schemas.openxmlformats.org/drawingml/2006/main">
            <a:pPr>
              <a:defRPr sz="2925" b="0">
                <a:solidFill>
                  <a:srgbClr val="55595F"/>
                </a:solidFill>
                <a:latin typeface="Open Sans"/>
                <a:ea typeface="Open Sans"/>
                <a:cs typeface="Open Sans"/>
              </a:defRPr>
            </a:pPr>
            <a:r>
              <a:rPr sz="2925" b="0">
                <a:solidFill>
                  <a:srgbClr val="55595F"/>
                </a:solidFill>
                <a:latin typeface="Open Sans"/>
                <a:ea typeface="Open Sans"/>
                <a:cs typeface="Open Sans"/>
              </a:rPr>
              <a:t>Five controls and evidence-based results</a:t>
            </a:r>
          </a:p>
        </p:txBody>
      </p:sp>
      <p:sp>
        <p:nvSpPr>
          <p:cNvPr id="4" name="footer">
            <a:extLst xmlns:a="http://schemas.openxmlformats.org/drawingml/2006/main">
              <a:ext uri="{FF2B5EF4-FFF2-40B4-BE49-F238E27FC236}">
                <a16:creationId xmlns:a16="http://schemas.microsoft.com/office/drawing/2014/main" id="{8104BD91-BC2C-4C7F-BE89-98E7A4706CF1}"/>
              </a:ext>
            </a:extLst>
          </p:cNvPr>
          <p:cNvSpPr>
            <a:spLocks xmlns:a="http://schemas.openxmlformats.org/drawingml/2006/main" noGrp="1"/>
          </p:cNvSpPr>
          <p:nvPr/>
        </p:nvSpPr>
        <p:spPr>
          <a:xfrm xmlns:a="http://schemas.openxmlformats.org/drawingml/2006/main">
            <a:off x="7239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55595F"/>
                </a:solidFill>
                <a:latin typeface="Open Sans"/>
                <a:ea typeface="Open Sans"/>
                <a:cs typeface="Open Sans"/>
              </a:defRPr>
            </a:defPPr>
          </a:lstStyle>
          <a:p xmlns:a="http://schemas.openxmlformats.org/drawingml/2006/main">
            <a:pPr>
              <a:defRPr sz="975" b="0">
                <a:solidFill>
                  <a:srgbClr val="55595F"/>
                </a:solidFill>
                <a:latin typeface="Open Sans"/>
                <a:ea typeface="Open Sans"/>
                <a:cs typeface="Open Sans"/>
              </a:defRPr>
            </a:pPr>
            <a:r>
              <a:rPr sz="975" b="0">
                <a:solidFill>
                  <a:srgbClr val="55595F"/>
                </a:solidFill>
                <a:latin typeface="Open Sans"/>
                <a:ea typeface="Open Sans"/>
                <a:cs typeface="Open Sans"/>
              </a:rPr>
              <a:t>Carnegie Mellon University   /   Charlotte Zhang &amp; Nana Ge   /   6</a:t>
            </a:r>
          </a:p>
        </p:txBody>
      </p:sp>
      <p:graphicFrame>
        <p:nvGraphicFramePr>
          <p:cNvPr id="5" name="">
            <a:extLst xmlns:a="http://schemas.openxmlformats.org/drawingml/2006/main">
              <a:ext uri="{FF2B5EF4-FFF2-40B4-BE49-F238E27FC236}">
                <a16:creationId xmlns:a16="http://schemas.microsoft.com/office/drawing/2014/main" id="{96A70013-122B-4C3C-A058-BD8891C19872}"/>
              </a:ext>
            </a:extLst>
          </p:cNvPr>
          <p:cNvGraphicFramePr/>
          <p:nvPr/>
        </p:nvGraphicFramePr>
        <p:xfrm>
          <a:off xmlns:a="http://schemas.openxmlformats.org/drawingml/2006/main" x="762000" y="1952625"/>
          <a:ext xmlns:a="http://schemas.openxmlformats.org/drawingml/2006/main" cx="10668000" cy="3238500"/>
        </p:xfrm>
        <a:graphic xmlns:a="http://schemas.openxmlformats.org/drawingml/2006/main">
          <a:graphicData uri="http://schemas.openxmlformats.org/drawingml/2006/table">
            <a:tbl>
              <a:tblPr/>
              <a:tblGrid>
                <a:gridCol w="2619375"/>
                <a:gridCol w="5762625"/>
                <a:gridCol w="2286000"/>
              </a:tblGrid>
              <a:tr h="539750">
                <a:tc>
                  <a:txBody>
                    <a:bodyPr lIns="95250" tIns="95250" rIns="95250" bIns="95250">
                      <a:noAutofit/>
                    </a:bodyPr>
                    <a:lstStyle/>
                    <a:p>
                      <a:r>
                        <a:rPr sz="1650" b="1">
                          <a:solidFill>
                            <a:srgbClr val="FFFFFF"/>
                          </a:solidFill>
                          <a:latin typeface="Open Sans"/>
                          <a:ea typeface="Open Sans"/>
                          <a:cs typeface="Open Sans"/>
                        </a:rPr>
                        <a:t>Control</a:t>
                      </a:r>
                    </a:p>
                  </a:txBody>
                  <a:tcPr marL="91440" marR="91440" marT="45720" marB="45720" anchor="ctr">
                    <a:lnL w="9525">
                      <a:solidFill>
                        <a:srgbClr val="D5DCE6"/>
                      </a:solidFill>
                      <a:prstDash val="solid"/>
                    </a:lnL>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c>
                  <a:txBody>
                    <a:bodyPr lIns="95250" tIns="95250" rIns="95250" bIns="95250">
                      <a:noAutofit/>
                    </a:bodyPr>
                    <a:lstStyle/>
                    <a:p>
                      <a:r>
                        <a:rPr sz="1650" b="1">
                          <a:solidFill>
                            <a:srgbClr val="FFFFFF"/>
                          </a:solidFill>
                          <a:latin typeface="Open Sans"/>
                          <a:ea typeface="Open Sans"/>
                          <a:cs typeface="Open Sans"/>
                        </a:rPr>
                        <a:t>Baseline evaluated</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c>
                  <a:txBody>
                    <a:bodyPr lIns="95250" tIns="95250" rIns="95250" bIns="95250">
                      <a:noAutofit/>
                    </a:bodyPr>
                    <a:lstStyle/>
                    <a:p>
                      <a:r>
                        <a:rPr sz="1650" b="1">
                          <a:solidFill>
                            <a:srgbClr val="FFFFFF"/>
                          </a:solidFill>
                          <a:latin typeface="Open Sans"/>
                          <a:ea typeface="Open Sans"/>
                          <a:cs typeface="Open Sans"/>
                        </a:rPr>
                        <a:t>Failure triage</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r>
              <a:tr h="539750">
                <a:tc>
                  <a:txBody>
                    <a:bodyPr lIns="95250" tIns="95250" rIns="95250" bIns="95250">
                      <a:noAutofit/>
                    </a:bodyPr>
                    <a:lstStyle/>
                    <a:p>
                      <a:r>
                        <a:rPr sz="1725" b="0">
                          <a:solidFill>
                            <a:srgbClr val="0F172A"/>
                          </a:solidFill>
                          <a:latin typeface="Open Sans"/>
                          <a:ea typeface="Open Sans"/>
                          <a:cs typeface="Open Sans"/>
                        </a:rPr>
                        <a:t>S3 public access</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725" b="0">
                          <a:solidFill>
                            <a:srgbClr val="0F172A"/>
                          </a:solidFill>
                          <a:latin typeface="Open Sans"/>
                          <a:ea typeface="Open Sans"/>
                          <a:cs typeface="Open Sans"/>
                        </a:rPr>
                        <a:t>Four effective BPA flags enabled</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725" b="0">
                          <a:solidFill>
                            <a:srgbClr val="0F172A"/>
                          </a:solidFill>
                          <a:latin typeface="Open Sans"/>
                          <a:ea typeface="Open Sans"/>
                          <a:cs typeface="Open Sans"/>
                        </a:rPr>
                        <a:t>HIGH</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539750">
                <a:tc>
                  <a:txBody>
                    <a:bodyPr lIns="95250" tIns="95250" rIns="95250" bIns="95250">
                      <a:noAutofit/>
                    </a:bodyPr>
                    <a:lstStyle/>
                    <a:p>
                      <a:r>
                        <a:rPr sz="1725" b="0">
                          <a:solidFill>
                            <a:srgbClr val="0F172A"/>
                          </a:solidFill>
                          <a:latin typeface="Open Sans"/>
                          <a:ea typeface="Open Sans"/>
                          <a:cs typeface="Open Sans"/>
                        </a:rPr>
                        <a:t>S3 encryption</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725" b="0">
                          <a:solidFill>
                            <a:srgbClr val="0F172A"/>
                          </a:solidFill>
                          <a:latin typeface="Open Sans"/>
                          <a:ea typeface="Open Sans"/>
                          <a:cs typeface="Open Sans"/>
                        </a:rPr>
                        <a:t>Default SSE-KMS or DSSE-KMS</a:t>
                      </a:r>
                    </a:p>
                  </a:txBody>
                  <a:tcPr marL="91440" marR="91440" marT="45720" marB="45720" anchor="ctr">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725" b="0">
                          <a:solidFill>
                            <a:srgbClr val="0F172A"/>
                          </a:solidFill>
                          <a:latin typeface="Open Sans"/>
                          <a:ea typeface="Open Sans"/>
                          <a:cs typeface="Open Sans"/>
                        </a:rPr>
                        <a:t>MEDIUM</a:t>
                      </a:r>
                    </a:p>
                  </a:txBody>
                  <a:tcPr marL="91440" marR="91440" marT="45720" marB="45720" anchor="ctr">
                    <a:lnR w="9525">
                      <a:solidFill>
                        <a:srgbClr val="D5DCE6"/>
                      </a:solidFill>
                      <a:prstDash val="solid"/>
                    </a:lnR>
                    <a:lnB w="9525">
                      <a:solidFill>
                        <a:srgbClr val="D5DCE6"/>
                      </a:solidFill>
                      <a:prstDash val="solid"/>
                    </a:lnB>
                    <a:solidFill>
                      <a:srgbClr val="EEF1F6"/>
                    </a:solidFill>
                  </a:tcPr>
                </a:tc>
              </a:tr>
              <a:tr h="539750">
                <a:tc>
                  <a:txBody>
                    <a:bodyPr lIns="95250" tIns="95250" rIns="95250" bIns="95250">
                      <a:noAutofit/>
                    </a:bodyPr>
                    <a:lstStyle/>
                    <a:p>
                      <a:r>
                        <a:rPr sz="1725" b="0">
                          <a:solidFill>
                            <a:srgbClr val="0F172A"/>
                          </a:solidFill>
                          <a:latin typeface="Open Sans"/>
                          <a:ea typeface="Open Sans"/>
                          <a:cs typeface="Open Sans"/>
                        </a:rPr>
                        <a:t>IAM MFA</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725" b="0">
                          <a:solidFill>
                            <a:srgbClr val="0F172A"/>
                          </a:solidFill>
                          <a:latin typeface="Open Sans"/>
                          <a:ea typeface="Open Sans"/>
                          <a:cs typeface="Open Sans"/>
                        </a:rPr>
                        <a:t>Root and console users enrolled</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725" b="0">
                          <a:solidFill>
                            <a:srgbClr val="0F172A"/>
                          </a:solidFill>
                          <a:latin typeface="Open Sans"/>
                          <a:ea typeface="Open Sans"/>
                          <a:cs typeface="Open Sans"/>
                        </a:rPr>
                        <a:t>CRITICAL / HIGH</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539750">
                <a:tc>
                  <a:txBody>
                    <a:bodyPr lIns="95250" tIns="95250" rIns="95250" bIns="95250">
                      <a:noAutofit/>
                    </a:bodyPr>
                    <a:lstStyle/>
                    <a:p>
                      <a:r>
                        <a:rPr sz="1725" b="0">
                          <a:solidFill>
                            <a:srgbClr val="0F172A"/>
                          </a:solidFill>
                          <a:latin typeface="Open Sans"/>
                          <a:ea typeface="Open Sans"/>
                          <a:cs typeface="Open Sans"/>
                        </a:rPr>
                        <a:t>EC2 ingress</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725" b="0">
                          <a:solidFill>
                            <a:srgbClr val="0F172A"/>
                          </a:solidFill>
                          <a:latin typeface="Open Sans"/>
                          <a:ea typeface="Open Sans"/>
                          <a:cs typeface="Open Sans"/>
                        </a:rPr>
                        <a:t>No /0 rule for port 22 or 3389</a:t>
                      </a:r>
                    </a:p>
                  </a:txBody>
                  <a:tcPr marL="91440" marR="91440" marT="45720" marB="45720" anchor="ctr">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725" b="0">
                          <a:solidFill>
                            <a:srgbClr val="0F172A"/>
                          </a:solidFill>
                          <a:latin typeface="Open Sans"/>
                          <a:ea typeface="Open Sans"/>
                          <a:cs typeface="Open Sans"/>
                        </a:rPr>
                        <a:t>HIGH</a:t>
                      </a:r>
                    </a:p>
                  </a:txBody>
                  <a:tcPr marL="91440" marR="91440" marT="45720" marB="45720" anchor="ctr">
                    <a:lnR w="9525">
                      <a:solidFill>
                        <a:srgbClr val="D5DCE6"/>
                      </a:solidFill>
                      <a:prstDash val="solid"/>
                    </a:lnR>
                    <a:lnB w="9525">
                      <a:solidFill>
                        <a:srgbClr val="D5DCE6"/>
                      </a:solidFill>
                      <a:prstDash val="solid"/>
                    </a:lnB>
                    <a:solidFill>
                      <a:srgbClr val="EEF1F6"/>
                    </a:solidFill>
                  </a:tcPr>
                </a:tc>
              </a:tr>
              <a:tr h="539750">
                <a:tc>
                  <a:txBody>
                    <a:bodyPr lIns="95250" tIns="95250" rIns="95250" bIns="95250">
                      <a:noAutofit/>
                    </a:bodyPr>
                    <a:lstStyle/>
                    <a:p>
                      <a:r>
                        <a:rPr sz="1725" b="0">
                          <a:solidFill>
                            <a:srgbClr val="0F172A"/>
                          </a:solidFill>
                          <a:latin typeface="Open Sans"/>
                          <a:ea typeface="Open Sans"/>
                          <a:cs typeface="Open Sans"/>
                        </a:rPr>
                        <a:t>CloudTrail</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725" b="0">
                          <a:solidFill>
                            <a:srgbClr val="0F172A"/>
                          </a:solidFill>
                          <a:latin typeface="Open Sans"/>
                          <a:ea typeface="Open Sans"/>
                          <a:cs typeface="Open Sans"/>
                        </a:rPr>
                        <a:t>Active full management-event logging</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725" b="0">
                          <a:solidFill>
                            <a:srgbClr val="0F172A"/>
                          </a:solidFill>
                          <a:latin typeface="Open Sans"/>
                          <a:ea typeface="Open Sans"/>
                          <a:cs typeface="Open Sans"/>
                        </a:rPr>
                        <a:t>HIGH</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bl>
          </a:graphicData>
        </a:graphic>
      </p:graphicFrame>
      <p:sp>
        <p:nvSpPr>
          <p:cNvPr id="6" name="implementation-flow">
            <a:extLst xmlns:a="http://schemas.openxmlformats.org/drawingml/2006/main">
              <a:ext uri="{FF2B5EF4-FFF2-40B4-BE49-F238E27FC236}">
                <a16:creationId xmlns:a16="http://schemas.microsoft.com/office/drawing/2014/main" id="{30BBA7B0-9175-47FC-A44A-BB7B2B37DF40}"/>
              </a:ext>
            </a:extLst>
          </p:cNvPr>
          <p:cNvSpPr>
            <a:spLocks xmlns:a="http://schemas.openxmlformats.org/drawingml/2006/main" noGrp="1"/>
          </p:cNvSpPr>
          <p:nvPr/>
        </p:nvSpPr>
        <p:spPr>
          <a:xfrm xmlns:a="http://schemas.openxmlformats.org/drawingml/2006/main">
            <a:off x="762000" y="5429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B2A49"/>
                </a:solidFill>
                <a:latin typeface="Open Sans"/>
                <a:ea typeface="Open Sans"/>
                <a:cs typeface="Open Sans"/>
              </a:defRPr>
            </a:defPPr>
          </a:lstStyle>
          <a:p xmlns:a="http://schemas.openxmlformats.org/drawingml/2006/main">
            <a:pPr>
              <a:defRPr sz="2025" b="1">
                <a:solidFill>
                  <a:srgbClr val="1B2A49"/>
                </a:solidFill>
                <a:latin typeface="Open Sans"/>
                <a:ea typeface="Open Sans"/>
                <a:cs typeface="Open Sans"/>
              </a:defRPr>
            </a:pPr>
            <a:r>
              <a:rPr sz="2025" b="1">
                <a:solidFill>
                  <a:srgbClr val="1B2A49"/>
                </a:solidFill>
                <a:latin typeface="Open Sans"/>
                <a:ea typeface="Open Sans"/>
                <a:cs typeface="Open Sans"/>
              </a:rPr>
              <a:t>Collect → evaluate → write reports → notify → publish metrics</a:t>
            </a:r>
          </a:p>
        </p:txBody>
      </p:sp>
      <p:sp>
        <p:nvSpPr>
          <p:cNvPr id="7" name="interpretation">
            <a:extLst xmlns:a="http://schemas.openxmlformats.org/drawingml/2006/main">
              <a:ext uri="{FF2B5EF4-FFF2-40B4-BE49-F238E27FC236}">
                <a16:creationId xmlns:a16="http://schemas.microsoft.com/office/drawing/2014/main" id="{FA802153-B6A5-434F-B72B-1966E0213037}"/>
              </a:ext>
            </a:extLst>
          </p:cNvPr>
          <p:cNvSpPr>
            <a:spLocks xmlns:a="http://schemas.openxmlformats.org/drawingml/2006/main" noGrp="1"/>
          </p:cNvSpPr>
          <p:nvPr/>
        </p:nvSpPr>
        <p:spPr>
          <a:xfrm xmlns:a="http://schemas.openxmlformats.org/drawingml/2006/main">
            <a:off x="762000" y="59531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5595F"/>
                </a:solidFill>
                <a:latin typeface="Open Sans"/>
                <a:ea typeface="Open Sans"/>
                <a:cs typeface="Open Sans"/>
              </a:defRPr>
            </a:defPPr>
          </a:lstStyle>
          <a:p xmlns:a="http://schemas.openxmlformats.org/drawingml/2006/main">
            <a:pPr>
              <a:defRPr sz="1500" b="0">
                <a:solidFill>
                  <a:srgbClr val="55595F"/>
                </a:solidFill>
                <a:latin typeface="Open Sans"/>
                <a:ea typeface="Open Sans"/>
                <a:cs typeface="Open Sans"/>
              </a:defRPr>
            </a:pPr>
            <a:r>
              <a:rPr sz="1500" b="0">
                <a:solidFill>
                  <a:srgbClr val="55595F"/>
                </a:solidFill>
                <a:latin typeface="Open Sans"/>
                <a:ea typeface="Open Sans"/>
                <a:cs typeface="Open Sans"/>
              </a:rPr>
              <a:t>SSE-S3 is valid encryption. A failed preventive flag or ingress rule needs contextual review.</a:t>
            </a:r>
          </a:p>
        </p:txBody>
      </p:sp>
    </p:spTree>
    <p:extLst>
      <p:ext uri="{BB962C8B-B14F-4D97-AF65-F5344CB8AC3E}">
        <p14:creationId xmlns:p14="http://schemas.microsoft.com/office/powerpoint/2010/main" val="117821341"/>
      </p:ext>
    </p:extLst>
  </p:cSld>
</p:sld>
</file>

<file path=ppt/slides/slide7.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D3405EC-1B33-4E39-A7D0-378CC3A52B12}"/>
              </a:ext>
            </a:extLst>
          </p:cNvPr>
          <p:cNvPicPr>
            <a:picLocks xmlns:a="http://schemas.openxmlformats.org/drawingml/2006/main" noChangeAspect="1"/>
          </p:cNvPicPr>
          <p:nvPr/>
        </p:nvPicPr>
        <p:blipFill>
          <a:blip xmlns:r="http://schemas.openxmlformats.org/officeDocument/2006/relationships" xmlns:a="http://schemas.openxmlformats.org/drawingml/2006/main" r:embed="Rdc57bf5fb6384d1d"/>
          <a:stretch xmlns:a="http://schemas.openxmlformats.org/drawingml/2006/main"/>
        </p:blipFill>
        <p:spPr>
          <a:xfrm xmlns:a="http://schemas.openxmlformats.org/drawingml/2006/main">
            <a:off x="16" y="0"/>
            <a:ext cx="4445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D445803D-60B2-41E9-96C5-A5DEAD036732}"/>
              </a:ext>
            </a:extLst>
          </p:cNvPr>
          <p:cNvSpPr>
            <a:spLocks xmlns:a="http://schemas.openxmlformats.org/drawingml/2006/main" noGrp="1"/>
          </p:cNvSpPr>
          <p:nvPr/>
        </p:nvSpPr>
        <p:spPr>
          <a:xfrm xmlns:a="http://schemas.openxmlformats.org/drawingml/2006/main">
            <a:off x="723900" y="4000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C41230"/>
                </a:solidFill>
                <a:latin typeface="Open Sans"/>
                <a:ea typeface="Open Sans"/>
                <a:cs typeface="Open Sans"/>
              </a:defRPr>
            </a:defPPr>
          </a:lstStyle>
          <a:p xmlns:a="http://schemas.openxmlformats.org/drawingml/2006/main">
            <a:pPr>
              <a:defRPr sz="1200" b="1">
                <a:solidFill>
                  <a:srgbClr val="C41230"/>
                </a:solidFill>
                <a:latin typeface="Open Sans"/>
                <a:ea typeface="Open Sans"/>
                <a:cs typeface="Open Sans"/>
              </a:defRPr>
            </a:pPr>
            <a:r>
              <a:rPr sz="1200" b="1">
                <a:solidFill>
                  <a:srgbClr val="C41230"/>
                </a:solidFill>
                <a:latin typeface="Open Sans"/>
                <a:ea typeface="Open Sans"/>
                <a:cs typeface="Open Sans"/>
              </a:rPr>
              <a:t>ROBUSTNESS AND TRUST BOUNDARIES</a:t>
            </a:r>
          </a:p>
        </p:txBody>
      </p:sp>
      <p:sp>
        <p:nvSpPr>
          <p:cNvPr id="3" name="title">
            <a:extLst xmlns:a="http://schemas.openxmlformats.org/drawingml/2006/main">
              <a:ext uri="{FF2B5EF4-FFF2-40B4-BE49-F238E27FC236}">
                <a16:creationId xmlns:a16="http://schemas.microsoft.com/office/drawing/2014/main" id="{B885F4C1-420F-4531-A304-BC7E1D450C6A}"/>
              </a:ext>
            </a:extLst>
          </p:cNvPr>
          <p:cNvSpPr>
            <a:spLocks xmlns:a="http://schemas.openxmlformats.org/drawingml/2006/main" noGrp="1"/>
          </p:cNvSpPr>
          <p:nvPr/>
        </p:nvSpPr>
        <p:spPr>
          <a:xfrm xmlns:a="http://schemas.openxmlformats.org/drawingml/2006/main">
            <a:off x="723900" y="838200"/>
            <a:ext cx="10744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0">
                <a:solidFill>
                  <a:srgbClr val="55595F"/>
                </a:solidFill>
                <a:latin typeface="Open Sans"/>
                <a:ea typeface="Open Sans"/>
                <a:cs typeface="Open Sans"/>
              </a:defRPr>
            </a:defPPr>
          </a:lstStyle>
          <a:p xmlns:a="http://schemas.openxmlformats.org/drawingml/2006/main">
            <a:pPr>
              <a:defRPr sz="2925" b="0">
                <a:solidFill>
                  <a:srgbClr val="55595F"/>
                </a:solidFill>
                <a:latin typeface="Open Sans"/>
                <a:ea typeface="Open Sans"/>
                <a:cs typeface="Open Sans"/>
              </a:defRPr>
            </a:pPr>
            <a:r>
              <a:rPr sz="2925" b="0">
                <a:solidFill>
                  <a:srgbClr val="55595F"/>
                </a:solidFill>
                <a:latin typeface="Open Sans"/>
                <a:ea typeface="Open Sans"/>
                <a:cs typeface="Open Sans"/>
              </a:rPr>
              <a:t>Missing evidence stays visible</a:t>
            </a:r>
          </a:p>
        </p:txBody>
      </p:sp>
      <p:sp>
        <p:nvSpPr>
          <p:cNvPr id="4" name="footer">
            <a:extLst xmlns:a="http://schemas.openxmlformats.org/drawingml/2006/main">
              <a:ext uri="{FF2B5EF4-FFF2-40B4-BE49-F238E27FC236}">
                <a16:creationId xmlns:a16="http://schemas.microsoft.com/office/drawing/2014/main" id="{06ECA01E-B3BF-4AC5-AD4F-8A59FDEC4943}"/>
              </a:ext>
            </a:extLst>
          </p:cNvPr>
          <p:cNvSpPr>
            <a:spLocks xmlns:a="http://schemas.openxmlformats.org/drawingml/2006/main" noGrp="1"/>
          </p:cNvSpPr>
          <p:nvPr/>
        </p:nvSpPr>
        <p:spPr>
          <a:xfrm xmlns:a="http://schemas.openxmlformats.org/drawingml/2006/main">
            <a:off x="7239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55595F"/>
                </a:solidFill>
                <a:latin typeface="Open Sans"/>
                <a:ea typeface="Open Sans"/>
                <a:cs typeface="Open Sans"/>
              </a:defRPr>
            </a:defPPr>
          </a:lstStyle>
          <a:p xmlns:a="http://schemas.openxmlformats.org/drawingml/2006/main">
            <a:pPr>
              <a:defRPr sz="975" b="0">
                <a:solidFill>
                  <a:srgbClr val="55595F"/>
                </a:solidFill>
                <a:latin typeface="Open Sans"/>
                <a:ea typeface="Open Sans"/>
                <a:cs typeface="Open Sans"/>
              </a:defRPr>
            </a:pPr>
            <a:r>
              <a:rPr sz="975" b="0">
                <a:solidFill>
                  <a:srgbClr val="55595F"/>
                </a:solidFill>
                <a:latin typeface="Open Sans"/>
                <a:ea typeface="Open Sans"/>
                <a:cs typeface="Open Sans"/>
              </a:rPr>
              <a:t>Carnegie Mellon University   /   Charlotte Zhang &amp; Nana Ge   /   7</a:t>
            </a:r>
          </a:p>
        </p:txBody>
      </p:sp>
      <p:sp>
        <p:nvSpPr>
          <p:cNvPr id="5" name="errors-title">
            <a:extLst xmlns:a="http://schemas.openxmlformats.org/drawingml/2006/main">
              <a:ext uri="{FF2B5EF4-FFF2-40B4-BE49-F238E27FC236}">
                <a16:creationId xmlns:a16="http://schemas.microsoft.com/office/drawing/2014/main" id="{031B82E6-0E68-487D-A1F1-70A7DB4209F8}"/>
              </a:ext>
            </a:extLst>
          </p:cNvPr>
          <p:cNvSpPr>
            <a:spLocks xmlns:a="http://schemas.openxmlformats.org/drawingml/2006/main" noGrp="1"/>
          </p:cNvSpPr>
          <p:nvPr/>
        </p:nvSpPr>
        <p:spPr>
          <a:xfrm xmlns:a="http://schemas.openxmlformats.org/drawingml/2006/main">
            <a:off x="762000" y="19526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B2A49"/>
                </a:solidFill>
                <a:latin typeface="Open Sans"/>
                <a:ea typeface="Open Sans"/>
                <a:cs typeface="Open Sans"/>
              </a:defRPr>
            </a:defPPr>
          </a:lstStyle>
          <a:p xmlns:a="http://schemas.openxmlformats.org/drawingml/2006/main">
            <a:pPr>
              <a:defRPr sz="2175" b="1">
                <a:solidFill>
                  <a:srgbClr val="1B2A49"/>
                </a:solidFill>
                <a:latin typeface="Open Sans"/>
                <a:ea typeface="Open Sans"/>
                <a:cs typeface="Open Sans"/>
              </a:defRPr>
            </a:pPr>
            <a:r>
              <a:rPr sz="2175" b="1">
                <a:solidFill>
                  <a:srgbClr val="1B2A49"/>
                </a:solidFill>
                <a:latin typeface="Open Sans"/>
                <a:ea typeface="Open Sans"/>
                <a:cs typeface="Open Sans"/>
              </a:rPr>
              <a:t>Failure behavior</a:t>
            </a:r>
          </a:p>
        </p:txBody>
      </p:sp>
      <p:sp>
        <p:nvSpPr>
          <p:cNvPr id="6" name="errors">
            <a:extLst xmlns:a="http://schemas.openxmlformats.org/drawingml/2006/main">
              <a:ext uri="{FF2B5EF4-FFF2-40B4-BE49-F238E27FC236}">
                <a16:creationId xmlns:a16="http://schemas.microsoft.com/office/drawing/2014/main" id="{DCDE89A8-BADA-43EB-9CFE-485358FEA61B}"/>
              </a:ext>
            </a:extLst>
          </p:cNvPr>
          <p:cNvSpPr>
            <a:spLocks xmlns:a="http://schemas.openxmlformats.org/drawingml/2006/main" noGrp="1"/>
          </p:cNvSpPr>
          <p:nvPr/>
        </p:nvSpPr>
        <p:spPr>
          <a:xfrm xmlns:a="http://schemas.openxmlformats.org/drawingml/2006/main">
            <a:off x="762000" y="2571750"/>
            <a:ext cx="4857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0F172A"/>
                </a:solidFill>
                <a:latin typeface="Open Sans"/>
                <a:ea typeface="Open Sans"/>
                <a:cs typeface="Open Sans"/>
              </a:defRPr>
            </a:defPPr>
          </a:lstStyle>
          <a:p xmlns:a="http://schemas.openxmlformats.org/drawingml/2006/main">
            <a:pPr>
              <a:defRPr sz="1950" b="0">
                <a:solidFill>
                  <a:srgbClr val="0F172A"/>
                </a:solidFill>
                <a:latin typeface="Open Sans"/>
                <a:ea typeface="Open Sans"/>
                <a:cs typeface="Open Sans"/>
              </a:defRPr>
            </a:pPr>
            <a:r>
              <a:rPr sz="1950" b="0">
                <a:solidFill>
                  <a:srgbClr val="0F172A"/>
                </a:solidFill>
                <a:latin typeface="Open Sans"/>
                <a:ea typeface="Open Sans"/>
                <a:cs typeface="Open Sans"/>
              </a:rPr>
              <a:t>Access denied or service error: UNKNOWN</a:t>
            </a:r>
          </a:p>
          <a:p xmlns:a="http://schemas.openxmlformats.org/drawingml/2006/main">
            <a:pPr>
              <a:defRPr sz="1950" b="0">
                <a:solidFill>
                  <a:srgbClr val="0F172A"/>
                </a:solidFill>
                <a:latin typeface="Open Sans"/>
                <a:ea typeface="Open Sans"/>
                <a:cs typeface="Open Sans"/>
              </a:defRPr>
            </a:pPr>
            <a:r>
              <a:rPr sz="1950" b="0">
                <a:solidFill>
                  <a:srgbClr val="0F172A"/>
                </a:solidFill>
                <a:latin typeface="Open Sans"/>
                <a:ea typeface="Open Sans"/>
                <a:cs typeface="Open Sans"/>
              </a:rPr>
              <a:t>Independent checks continue</a:t>
            </a:r>
          </a:p>
          <a:p xmlns:a="http://schemas.openxmlformats.org/drawingml/2006/main">
            <a:pPr>
              <a:defRPr sz="1950" b="0">
                <a:solidFill>
                  <a:srgbClr val="0F172A"/>
                </a:solidFill>
                <a:latin typeface="Open Sans"/>
                <a:ea typeface="Open Sans"/>
                <a:cs typeface="Open Sans"/>
              </a:defRPr>
            </a:pPr>
            <a:r>
              <a:rPr sz="1950" b="0">
                <a:solidFill>
                  <a:srgbClr val="0F172A"/>
                </a:solidFill>
                <a:latin typeface="Open Sans"/>
                <a:ea typeface="Open Sans"/>
                <a:cs typeface="Open Sans"/>
              </a:rPr>
              <a:t>Pagination before inventory conclusions</a:t>
            </a:r>
          </a:p>
          <a:p xmlns:a="http://schemas.openxmlformats.org/drawingml/2006/main">
            <a:pPr>
              <a:defRPr sz="1950" b="0">
                <a:solidFill>
                  <a:srgbClr val="0F172A"/>
                </a:solidFill>
                <a:latin typeface="Open Sans"/>
                <a:ea typeface="Open Sans"/>
                <a:cs typeface="Open Sans"/>
              </a:defRPr>
            </a:pPr>
            <a:r>
              <a:rPr sz="1950" b="0">
                <a:solidFill>
                  <a:srgbClr val="0F172A"/>
                </a:solidFill>
                <a:latin typeface="Open Sans"/>
                <a:ea typeface="Open Sans"/>
                <a:cs typeface="Open Sans"/>
              </a:rPr>
              <a:t>Unexpected errors and delivery failures raise</a:t>
            </a:r>
          </a:p>
          <a:p xmlns:a="http://schemas.openxmlformats.org/drawingml/2006/main">
            <a:pPr>
              <a:defRPr sz="1950" b="0">
                <a:solidFill>
                  <a:srgbClr val="0F172A"/>
                </a:solidFill>
                <a:latin typeface="Open Sans"/>
                <a:ea typeface="Open Sans"/>
                <a:cs typeface="Open Sans"/>
              </a:defRPr>
            </a:pPr>
            <a:r>
              <a:rPr sz="1950" b="0">
                <a:solidFill>
                  <a:srgbClr val="0F172A"/>
                </a:solidFill>
                <a:latin typeface="Open Sans"/>
                <a:ea typeface="Open Sans"/>
                <a:cs typeface="Open Sans"/>
              </a:rPr>
              <a:t>Retries can duplicate outputs</a:t>
            </a:r>
          </a:p>
        </p:txBody>
      </p:sp>
      <p:sp>
        <p:nvSpPr>
          <p:cNvPr id="7" name="security-title">
            <a:extLst xmlns:a="http://schemas.openxmlformats.org/drawingml/2006/main">
              <a:ext uri="{FF2B5EF4-FFF2-40B4-BE49-F238E27FC236}">
                <a16:creationId xmlns:a16="http://schemas.microsoft.com/office/drawing/2014/main" id="{2619917B-79A3-4A60-9FB5-1A9F51D685A6}"/>
              </a:ext>
            </a:extLst>
          </p:cNvPr>
          <p:cNvSpPr>
            <a:spLocks xmlns:a="http://schemas.openxmlformats.org/drawingml/2006/main" noGrp="1"/>
          </p:cNvSpPr>
          <p:nvPr/>
        </p:nvSpPr>
        <p:spPr>
          <a:xfrm xmlns:a="http://schemas.openxmlformats.org/drawingml/2006/main">
            <a:off x="6477000" y="19526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B2A49"/>
                </a:solidFill>
                <a:latin typeface="Open Sans"/>
                <a:ea typeface="Open Sans"/>
                <a:cs typeface="Open Sans"/>
              </a:defRPr>
            </a:defPPr>
          </a:lstStyle>
          <a:p xmlns:a="http://schemas.openxmlformats.org/drawingml/2006/main">
            <a:pPr>
              <a:defRPr sz="2175" b="1">
                <a:solidFill>
                  <a:srgbClr val="1B2A49"/>
                </a:solidFill>
                <a:latin typeface="Open Sans"/>
                <a:ea typeface="Open Sans"/>
                <a:cs typeface="Open Sans"/>
              </a:defRPr>
            </a:pPr>
            <a:r>
              <a:rPr sz="2175" b="1">
                <a:solidFill>
                  <a:srgbClr val="1B2A49"/>
                </a:solidFill>
                <a:latin typeface="Open Sans"/>
                <a:ea typeface="Open Sans"/>
                <a:cs typeface="Open Sans"/>
              </a:rPr>
              <a:t>Security decisions</a:t>
            </a:r>
          </a:p>
        </p:txBody>
      </p:sp>
      <p:sp>
        <p:nvSpPr>
          <p:cNvPr id="8" name="security">
            <a:extLst xmlns:a="http://schemas.openxmlformats.org/drawingml/2006/main">
              <a:ext uri="{FF2B5EF4-FFF2-40B4-BE49-F238E27FC236}">
                <a16:creationId xmlns:a16="http://schemas.microsoft.com/office/drawing/2014/main" id="{AB4389FA-4C4D-4F81-B82E-AA54E4C95D51}"/>
              </a:ext>
            </a:extLst>
          </p:cNvPr>
          <p:cNvSpPr>
            <a:spLocks xmlns:a="http://schemas.openxmlformats.org/drawingml/2006/main" noGrp="1"/>
          </p:cNvSpPr>
          <p:nvPr/>
        </p:nvSpPr>
        <p:spPr>
          <a:xfrm xmlns:a="http://schemas.openxmlformats.org/drawingml/2006/main">
            <a:off x="6477000" y="2571750"/>
            <a:ext cx="4857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0F172A"/>
                </a:solidFill>
                <a:latin typeface="Open Sans"/>
                <a:ea typeface="Open Sans"/>
                <a:cs typeface="Open Sans"/>
              </a:defRPr>
            </a:defPPr>
          </a:lstStyle>
          <a:p xmlns:a="http://schemas.openxmlformats.org/drawingml/2006/main">
            <a:pPr>
              <a:defRPr sz="1950" b="0">
                <a:solidFill>
                  <a:srgbClr val="0F172A"/>
                </a:solidFill>
                <a:latin typeface="Open Sans"/>
                <a:ea typeface="Open Sans"/>
                <a:cs typeface="Open Sans"/>
              </a:defRPr>
            </a:pPr>
            <a:r>
              <a:rPr sz="1950" b="0">
                <a:solidFill>
                  <a:srgbClr val="0F172A"/>
                </a:solidFill>
                <a:latin typeface="Open Sans"/>
                <a:ea typeface="Open Sans"/>
                <a:cs typeface="Open Sans"/>
              </a:rPr>
              <a:t>Configuration reads only</a:t>
            </a:r>
          </a:p>
          <a:p xmlns:a="http://schemas.openxmlformats.org/drawingml/2006/main">
            <a:pPr>
              <a:defRPr sz="1950" b="0">
                <a:solidFill>
                  <a:srgbClr val="0F172A"/>
                </a:solidFill>
                <a:latin typeface="Open Sans"/>
                <a:ea typeface="Open Sans"/>
                <a:cs typeface="Open Sans"/>
              </a:defRPr>
            </a:pPr>
            <a:r>
              <a:rPr sz="1950" b="0">
                <a:solidFill>
                  <a:srgbClr val="0F172A"/>
                </a:solidFill>
                <a:latin typeface="Open Sans"/>
                <a:ea typeface="Open Sans"/>
                <a:cs typeface="Open Sans"/>
              </a:rPr>
              <a:t>Explicit account and bucket owner checks</a:t>
            </a:r>
          </a:p>
          <a:p xmlns:a="http://schemas.openxmlformats.org/drawingml/2006/main">
            <a:pPr>
              <a:defRPr sz="1950" b="0">
                <a:solidFill>
                  <a:srgbClr val="0F172A"/>
                </a:solidFill>
                <a:latin typeface="Open Sans"/>
                <a:ea typeface="Open Sans"/>
                <a:cs typeface="Open Sans"/>
              </a:defRPr>
            </a:pPr>
            <a:r>
              <a:rPr sz="1950" b="0">
                <a:solidFill>
                  <a:srgbClr val="0F172A"/>
                </a:solidFill>
                <a:latin typeface="Open Sans"/>
                <a:ea typeface="Open Sans"/>
                <a:cs typeface="Open Sans"/>
              </a:rPr>
              <a:t>Offline mode blocks AWS transport</a:t>
            </a:r>
          </a:p>
          <a:p xmlns:a="http://schemas.openxmlformats.org/drawingml/2006/main">
            <a:pPr>
              <a:defRPr sz="1950" b="0">
                <a:solidFill>
                  <a:srgbClr val="0F172A"/>
                </a:solidFill>
                <a:latin typeface="Open Sans"/>
                <a:ea typeface="Open Sans"/>
                <a:cs typeface="Open Sans"/>
              </a:defRPr>
            </a:pPr>
            <a:r>
              <a:rPr sz="1950" b="0">
                <a:solidFill>
                  <a:srgbClr val="0F172A"/>
                </a:solidFill>
                <a:latin typeface="Open Sans"/>
                <a:ea typeface="Open Sans"/>
                <a:cs typeface="Open Sans"/>
              </a:rPr>
              <a:t>No patient-object reads or remediation</a:t>
            </a:r>
          </a:p>
          <a:p xmlns:a="http://schemas.openxmlformats.org/drawingml/2006/main">
            <a:pPr>
              <a:defRPr sz="1950" b="0">
                <a:solidFill>
                  <a:srgbClr val="0F172A"/>
                </a:solidFill>
                <a:latin typeface="Open Sans"/>
                <a:ea typeface="Open Sans"/>
                <a:cs typeface="Open Sans"/>
              </a:defRPr>
            </a:pPr>
            <a:r>
              <a:rPr sz="1950" b="0">
                <a:solidFill>
                  <a:srgbClr val="0F172A"/>
                </a:solidFill>
                <a:latin typeface="Open Sans"/>
                <a:ea typeface="Open Sans"/>
                <a:cs typeface="Open Sans"/>
              </a:rPr>
              <a:t>Detailed evidence stays out of SNS</a:t>
            </a:r>
          </a:p>
        </p:txBody>
      </p:sp>
      <p:sp>
        <p:nvSpPr>
          <p:cNvPr id="9" name="limits">
            <a:extLst xmlns:a="http://schemas.openxmlformats.org/drawingml/2006/main">
              <a:ext uri="{FF2B5EF4-FFF2-40B4-BE49-F238E27FC236}">
                <a16:creationId xmlns:a16="http://schemas.microsoft.com/office/drawing/2014/main" id="{1E119672-C032-418F-90D1-143A16DAA1C7}"/>
              </a:ext>
            </a:extLst>
          </p:cNvPr>
          <p:cNvSpPr>
            <a:spLocks xmlns:a="http://schemas.openxmlformats.org/drawingml/2006/main" noGrp="1"/>
          </p:cNvSpPr>
          <p:nvPr/>
        </p:nvSpPr>
        <p:spPr>
          <a:xfrm xmlns:a="http://schemas.openxmlformats.org/drawingml/2006/main">
            <a:off x="762000" y="5715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C41230"/>
                </a:solidFill>
                <a:latin typeface="Open Sans"/>
                <a:ea typeface="Open Sans"/>
                <a:cs typeface="Open Sans"/>
              </a:defRPr>
            </a:defPPr>
          </a:lstStyle>
          <a:p xmlns:a="http://schemas.openxmlformats.org/drawingml/2006/main">
            <a:pPr>
              <a:defRPr sz="1725" b="0">
                <a:solidFill>
                  <a:srgbClr val="C41230"/>
                </a:solidFill>
                <a:latin typeface="Open Sans"/>
                <a:ea typeface="Open Sans"/>
                <a:cs typeface="Open Sans"/>
              </a:defRPr>
            </a:pPr>
            <a:r>
              <a:rPr sz="1725" b="0">
                <a:solidFill>
                  <a:srgbClr val="C41230"/>
                </a:solidFill>
                <a:latin typeface="Open Sans"/>
                <a:ea typeface="Open Sans"/>
                <a:cs typeface="Open Sans"/>
              </a:rPr>
              <a:t>Residual risks: no durable deduplication or missed-run detector; alarm actions are not configured.</a:t>
            </a:r>
          </a:p>
        </p:txBody>
      </p:sp>
    </p:spTree>
    <p:extLst>
      <p:ext uri="{BB962C8B-B14F-4D97-AF65-F5344CB8AC3E}">
        <p14:creationId xmlns:p14="http://schemas.microsoft.com/office/powerpoint/2010/main" val="31189924"/>
      </p:ext>
    </p:extLst>
  </p:cSld>
</p:sld>
</file>

<file path=ppt/slides/slide8.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B4EFFCC-6A17-4B9B-8288-B4CFD3592B11}"/>
              </a:ext>
            </a:extLst>
          </p:cNvPr>
          <p:cNvPicPr>
            <a:picLocks xmlns:a="http://schemas.openxmlformats.org/drawingml/2006/main" noChangeAspect="1"/>
          </p:cNvPicPr>
          <p:nvPr/>
        </p:nvPicPr>
        <p:blipFill>
          <a:blip xmlns:r="http://schemas.openxmlformats.org/officeDocument/2006/relationships" xmlns:a="http://schemas.openxmlformats.org/drawingml/2006/main" r:embed="Rbff7629d31c24150"/>
          <a:stretch xmlns:a="http://schemas.openxmlformats.org/drawingml/2006/main"/>
        </p:blipFill>
        <p:spPr>
          <a:xfrm xmlns:a="http://schemas.openxmlformats.org/drawingml/2006/main">
            <a:off x="16" y="0"/>
            <a:ext cx="4445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4F41AA51-91EA-4CB2-A1B0-7AD019476E8D}"/>
              </a:ext>
            </a:extLst>
          </p:cNvPr>
          <p:cNvSpPr>
            <a:spLocks xmlns:a="http://schemas.openxmlformats.org/drawingml/2006/main" noGrp="1"/>
          </p:cNvSpPr>
          <p:nvPr/>
        </p:nvSpPr>
        <p:spPr>
          <a:xfrm xmlns:a="http://schemas.openxmlformats.org/drawingml/2006/main">
            <a:off x="723900" y="4000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C41230"/>
                </a:solidFill>
                <a:latin typeface="Open Sans"/>
                <a:ea typeface="Open Sans"/>
                <a:cs typeface="Open Sans"/>
              </a:defRPr>
            </a:defPPr>
          </a:lstStyle>
          <a:p xmlns:a="http://schemas.openxmlformats.org/drawingml/2006/main">
            <a:pPr>
              <a:defRPr sz="1200" b="1">
                <a:solidFill>
                  <a:srgbClr val="C41230"/>
                </a:solidFill>
                <a:latin typeface="Open Sans"/>
                <a:ea typeface="Open Sans"/>
                <a:cs typeface="Open Sans"/>
              </a:defRPr>
            </a:pPr>
            <a:r>
              <a:rPr sz="1200" b="1">
                <a:solidFill>
                  <a:srgbClr val="C41230"/>
                </a:solidFill>
                <a:latin typeface="Open Sans"/>
                <a:ea typeface="Open Sans"/>
                <a:cs typeface="Open Sans"/>
              </a:rPr>
              <a:t>DEMO / INPUT, PROCESSING AND OUTPUT</a:t>
            </a:r>
          </a:p>
        </p:txBody>
      </p:sp>
      <p:sp>
        <p:nvSpPr>
          <p:cNvPr id="3" name="title">
            <a:extLst xmlns:a="http://schemas.openxmlformats.org/drawingml/2006/main">
              <a:ext uri="{FF2B5EF4-FFF2-40B4-BE49-F238E27FC236}">
                <a16:creationId xmlns:a16="http://schemas.microsoft.com/office/drawing/2014/main" id="{32741C60-66E0-4DDF-A2FA-EDC162817C3B}"/>
              </a:ext>
            </a:extLst>
          </p:cNvPr>
          <p:cNvSpPr>
            <a:spLocks xmlns:a="http://schemas.openxmlformats.org/drawingml/2006/main" noGrp="1"/>
          </p:cNvSpPr>
          <p:nvPr/>
        </p:nvSpPr>
        <p:spPr>
          <a:xfrm xmlns:a="http://schemas.openxmlformats.org/drawingml/2006/main">
            <a:off x="723900" y="838200"/>
            <a:ext cx="10744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0">
                <a:solidFill>
                  <a:srgbClr val="55595F"/>
                </a:solidFill>
                <a:latin typeface="Open Sans"/>
                <a:ea typeface="Open Sans"/>
                <a:cs typeface="Open Sans"/>
              </a:defRPr>
            </a:defPPr>
          </a:lstStyle>
          <a:p xmlns:a="http://schemas.openxmlformats.org/drawingml/2006/main">
            <a:pPr>
              <a:defRPr sz="2925" b="0">
                <a:solidFill>
                  <a:srgbClr val="55595F"/>
                </a:solidFill>
                <a:latin typeface="Open Sans"/>
                <a:ea typeface="Open Sans"/>
                <a:cs typeface="Open Sans"/>
              </a:defRPr>
            </a:pPr>
            <a:r>
              <a:rPr sz="2925" b="0">
                <a:solidFill>
                  <a:srgbClr val="55595F"/>
                </a:solidFill>
                <a:latin typeface="Open Sans"/>
                <a:ea typeface="Open Sans"/>
                <a:cs typeface="Open Sans"/>
              </a:rPr>
              <a:t>Three reproducible scenarios</a:t>
            </a:r>
          </a:p>
        </p:txBody>
      </p:sp>
      <p:sp>
        <p:nvSpPr>
          <p:cNvPr id="4" name="footer">
            <a:extLst xmlns:a="http://schemas.openxmlformats.org/drawingml/2006/main">
              <a:ext uri="{FF2B5EF4-FFF2-40B4-BE49-F238E27FC236}">
                <a16:creationId xmlns:a16="http://schemas.microsoft.com/office/drawing/2014/main" id="{1263FF63-1A14-472C-9BE9-8B9E14FBAB7B}"/>
              </a:ext>
            </a:extLst>
          </p:cNvPr>
          <p:cNvSpPr>
            <a:spLocks xmlns:a="http://schemas.openxmlformats.org/drawingml/2006/main" noGrp="1"/>
          </p:cNvSpPr>
          <p:nvPr/>
        </p:nvSpPr>
        <p:spPr>
          <a:xfrm xmlns:a="http://schemas.openxmlformats.org/drawingml/2006/main">
            <a:off x="7239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55595F"/>
                </a:solidFill>
                <a:latin typeface="Open Sans"/>
                <a:ea typeface="Open Sans"/>
                <a:cs typeface="Open Sans"/>
              </a:defRPr>
            </a:defPPr>
          </a:lstStyle>
          <a:p xmlns:a="http://schemas.openxmlformats.org/drawingml/2006/main">
            <a:pPr>
              <a:defRPr sz="975" b="0">
                <a:solidFill>
                  <a:srgbClr val="55595F"/>
                </a:solidFill>
                <a:latin typeface="Open Sans"/>
                <a:ea typeface="Open Sans"/>
                <a:cs typeface="Open Sans"/>
              </a:defRPr>
            </a:pPr>
            <a:r>
              <a:rPr sz="975" b="0">
                <a:solidFill>
                  <a:srgbClr val="55595F"/>
                </a:solidFill>
                <a:latin typeface="Open Sans"/>
                <a:ea typeface="Open Sans"/>
                <a:cs typeface="Open Sans"/>
              </a:rPr>
              <a:t>Carnegie Mellon University   /   Charlotte Zhang &amp; Nana Ge   /   8</a:t>
            </a:r>
          </a:p>
        </p:txBody>
      </p:sp>
      <p:graphicFrame>
        <p:nvGraphicFramePr>
          <p:cNvPr id="5" name="">
            <a:extLst xmlns:a="http://schemas.openxmlformats.org/drawingml/2006/main">
              <a:ext uri="{FF2B5EF4-FFF2-40B4-BE49-F238E27FC236}">
                <a16:creationId xmlns:a16="http://schemas.microsoft.com/office/drawing/2014/main" id="{3294A839-A7D0-4449-8EF7-D58BD5EFE002}"/>
              </a:ext>
            </a:extLst>
          </p:cNvPr>
          <p:cNvGraphicFramePr/>
          <p:nvPr/>
        </p:nvGraphicFramePr>
        <p:xfrm>
          <a:off xmlns:a="http://schemas.openxmlformats.org/drawingml/2006/main" x="762000" y="2000250"/>
          <a:ext xmlns:a="http://schemas.openxmlformats.org/drawingml/2006/main" cx="10668000" cy="2286000"/>
        </p:xfrm>
        <a:graphic xmlns:a="http://schemas.openxmlformats.org/drawingml/2006/main">
          <a:graphicData uri="http://schemas.openxmlformats.org/drawingml/2006/table">
            <a:tbl>
              <a:tblPr/>
              <a:tblGrid>
                <a:gridCol w="3429000"/>
                <a:gridCol w="1809750"/>
                <a:gridCol w="1809750"/>
                <a:gridCol w="1809750"/>
                <a:gridCol w="1809750"/>
              </a:tblGrid>
              <a:tr h="571500">
                <a:tc>
                  <a:txBody>
                    <a:bodyPr lIns="95250" tIns="95250" rIns="95250" bIns="95250">
                      <a:noAutofit/>
                    </a:bodyPr>
                    <a:lstStyle/>
                    <a:p>
                      <a:r>
                        <a:rPr sz="1800" b="1">
                          <a:solidFill>
                            <a:srgbClr val="FFFFFF"/>
                          </a:solidFill>
                          <a:latin typeface="Open Sans"/>
                          <a:ea typeface="Open Sans"/>
                          <a:cs typeface="Open Sans"/>
                        </a:rPr>
                        <a:t>Scenario</a:t>
                      </a:r>
                    </a:p>
                  </a:txBody>
                  <a:tcPr marL="91440" marR="91440" marT="45720" marB="45720" anchor="ctr">
                    <a:lnL w="9525">
                      <a:solidFill>
                        <a:srgbClr val="D5DCE6"/>
                      </a:solidFill>
                      <a:prstDash val="solid"/>
                    </a:lnL>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c>
                  <a:txBody>
                    <a:bodyPr lIns="95250" tIns="95250" rIns="95250" bIns="95250">
                      <a:noAutofit/>
                    </a:bodyPr>
                    <a:lstStyle/>
                    <a:p>
                      <a:r>
                        <a:rPr sz="1800" b="1">
                          <a:solidFill>
                            <a:srgbClr val="FFFFFF"/>
                          </a:solidFill>
                          <a:latin typeface="Open Sans"/>
                          <a:ea typeface="Open Sans"/>
                          <a:cs typeface="Open Sans"/>
                        </a:rPr>
                        <a:t>PASS</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c>
                  <a:txBody>
                    <a:bodyPr lIns="95250" tIns="95250" rIns="95250" bIns="95250">
                      <a:noAutofit/>
                    </a:bodyPr>
                    <a:lstStyle/>
                    <a:p>
                      <a:r>
                        <a:rPr sz="1800" b="1">
                          <a:solidFill>
                            <a:srgbClr val="FFFFFF"/>
                          </a:solidFill>
                          <a:latin typeface="Open Sans"/>
                          <a:ea typeface="Open Sans"/>
                          <a:cs typeface="Open Sans"/>
                        </a:rPr>
                        <a:t>FAIL</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c>
                  <a:txBody>
                    <a:bodyPr lIns="95250" tIns="95250" rIns="95250" bIns="95250">
                      <a:noAutofit/>
                    </a:bodyPr>
                    <a:lstStyle/>
                    <a:p>
                      <a:r>
                        <a:rPr sz="1800" b="1">
                          <a:solidFill>
                            <a:srgbClr val="FFFFFF"/>
                          </a:solidFill>
                          <a:latin typeface="Open Sans"/>
                          <a:ea typeface="Open Sans"/>
                          <a:cs typeface="Open Sans"/>
                        </a:rPr>
                        <a:t>UNKNOWN</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c>
                  <a:txBody>
                    <a:bodyPr lIns="95250" tIns="95250" rIns="95250" bIns="95250">
                      <a:noAutofit/>
                    </a:bodyPr>
                    <a:lstStyle/>
                    <a:p>
                      <a:r>
                        <a:rPr sz="1800" b="1">
                          <a:solidFill>
                            <a:srgbClr val="FFFFFF"/>
                          </a:solidFill>
                          <a:latin typeface="Open Sans"/>
                          <a:ea typeface="Open Sans"/>
                          <a:cs typeface="Open Sans"/>
                        </a:rPr>
                        <a:t>N/A</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r>
              <a:tr h="571500">
                <a:tc>
                  <a:txBody>
                    <a:bodyPr lIns="95250" tIns="95250" rIns="95250" bIns="95250">
                      <a:noAutofit/>
                    </a:bodyPr>
                    <a:lstStyle/>
                    <a:p>
                      <a:r>
                        <a:rPr sz="1875" b="0">
                          <a:solidFill>
                            <a:srgbClr val="0F172A"/>
                          </a:solidFill>
                          <a:latin typeface="Open Sans"/>
                          <a:ea typeface="Open Sans"/>
                          <a:cs typeface="Open Sans"/>
                        </a:rPr>
                        <a:t>Misconfigured</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875" b="0">
                          <a:solidFill>
                            <a:srgbClr val="0F172A"/>
                          </a:solidFill>
                          <a:latin typeface="Open Sans"/>
                          <a:ea typeface="Open Sans"/>
                          <a:cs typeface="Open Sans"/>
                        </a:rPr>
                        <a:t>0</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875" b="0">
                          <a:solidFill>
                            <a:srgbClr val="0F172A"/>
                          </a:solidFill>
                          <a:latin typeface="Open Sans"/>
                          <a:ea typeface="Open Sans"/>
                          <a:cs typeface="Open Sans"/>
                        </a:rPr>
                        <a:t>6</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875" b="0">
                          <a:solidFill>
                            <a:srgbClr val="0F172A"/>
                          </a:solidFill>
                          <a:latin typeface="Open Sans"/>
                          <a:ea typeface="Open Sans"/>
                          <a:cs typeface="Open Sans"/>
                        </a:rPr>
                        <a:t>0</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875" b="0">
                          <a:solidFill>
                            <a:srgbClr val="0F172A"/>
                          </a:solidFill>
                          <a:latin typeface="Open Sans"/>
                          <a:ea typeface="Open Sans"/>
                          <a:cs typeface="Open Sans"/>
                        </a:rPr>
                        <a:t>1</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571500">
                <a:tc>
                  <a:txBody>
                    <a:bodyPr lIns="95250" tIns="95250" rIns="95250" bIns="95250">
                      <a:noAutofit/>
                    </a:bodyPr>
                    <a:lstStyle/>
                    <a:p>
                      <a:r>
                        <a:rPr sz="1875" b="0">
                          <a:solidFill>
                            <a:srgbClr val="0F172A"/>
                          </a:solidFill>
                          <a:latin typeface="Open Sans"/>
                          <a:ea typeface="Open Sans"/>
                          <a:cs typeface="Open Sans"/>
                        </a:rPr>
                        <a:t>Compliant</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875" b="0">
                          <a:solidFill>
                            <a:srgbClr val="0F172A"/>
                          </a:solidFill>
                          <a:latin typeface="Open Sans"/>
                          <a:ea typeface="Open Sans"/>
                          <a:cs typeface="Open Sans"/>
                        </a:rPr>
                        <a:t>6</a:t>
                      </a:r>
                    </a:p>
                  </a:txBody>
                  <a:tcPr marL="91440" marR="91440" marT="45720" marB="45720" anchor="ctr">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875" b="0">
                          <a:solidFill>
                            <a:srgbClr val="0F172A"/>
                          </a:solidFill>
                          <a:latin typeface="Open Sans"/>
                          <a:ea typeface="Open Sans"/>
                          <a:cs typeface="Open Sans"/>
                        </a:rPr>
                        <a:t>0</a:t>
                      </a:r>
                    </a:p>
                  </a:txBody>
                  <a:tcPr marL="91440" marR="91440" marT="45720" marB="45720" anchor="ctr">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875" b="0">
                          <a:solidFill>
                            <a:srgbClr val="0F172A"/>
                          </a:solidFill>
                          <a:latin typeface="Open Sans"/>
                          <a:ea typeface="Open Sans"/>
                          <a:cs typeface="Open Sans"/>
                        </a:rPr>
                        <a:t>0</a:t>
                      </a:r>
                    </a:p>
                  </a:txBody>
                  <a:tcPr marL="91440" marR="91440" marT="45720" marB="45720" anchor="ctr">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875" b="0">
                          <a:solidFill>
                            <a:srgbClr val="0F172A"/>
                          </a:solidFill>
                          <a:latin typeface="Open Sans"/>
                          <a:ea typeface="Open Sans"/>
                          <a:cs typeface="Open Sans"/>
                        </a:rPr>
                        <a:t>1</a:t>
                      </a:r>
                    </a:p>
                  </a:txBody>
                  <a:tcPr marL="91440" marR="91440" marT="45720" marB="45720" anchor="ctr">
                    <a:lnR w="9525">
                      <a:solidFill>
                        <a:srgbClr val="D5DCE6"/>
                      </a:solidFill>
                      <a:prstDash val="solid"/>
                    </a:lnR>
                    <a:lnB w="9525">
                      <a:solidFill>
                        <a:srgbClr val="D5DCE6"/>
                      </a:solidFill>
                      <a:prstDash val="solid"/>
                    </a:lnB>
                    <a:solidFill>
                      <a:srgbClr val="EEF1F6"/>
                    </a:solidFill>
                  </a:tcPr>
                </a:tc>
              </a:tr>
              <a:tr h="571500">
                <a:tc>
                  <a:txBody>
                    <a:bodyPr lIns="95250" tIns="95250" rIns="95250" bIns="95250">
                      <a:noAutofit/>
                    </a:bodyPr>
                    <a:lstStyle/>
                    <a:p>
                      <a:r>
                        <a:rPr sz="1875" b="0">
                          <a:solidFill>
                            <a:srgbClr val="0F172A"/>
                          </a:solidFill>
                          <a:latin typeface="Open Sans"/>
                          <a:ea typeface="Open Sans"/>
                          <a:cs typeface="Open Sans"/>
                        </a:rPr>
                        <a:t>Incomplete</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875" b="0">
                          <a:solidFill>
                            <a:srgbClr val="0F172A"/>
                          </a:solidFill>
                          <a:latin typeface="Open Sans"/>
                          <a:ea typeface="Open Sans"/>
                          <a:cs typeface="Open Sans"/>
                        </a:rPr>
                        <a:t>5</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875" b="0">
                          <a:solidFill>
                            <a:srgbClr val="0F172A"/>
                          </a:solidFill>
                          <a:latin typeface="Open Sans"/>
                          <a:ea typeface="Open Sans"/>
                          <a:cs typeface="Open Sans"/>
                        </a:rPr>
                        <a:t>0</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875" b="0">
                          <a:solidFill>
                            <a:srgbClr val="0F172A"/>
                          </a:solidFill>
                          <a:latin typeface="Open Sans"/>
                          <a:ea typeface="Open Sans"/>
                          <a:cs typeface="Open Sans"/>
                        </a:rPr>
                        <a:t>1</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875" b="0">
                          <a:solidFill>
                            <a:srgbClr val="0F172A"/>
                          </a:solidFill>
                          <a:latin typeface="Open Sans"/>
                          <a:ea typeface="Open Sans"/>
                          <a:cs typeface="Open Sans"/>
                        </a:rPr>
                        <a:t>1</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bl>
          </a:graphicData>
        </a:graphic>
      </p:graphicFrame>
      <p:sp>
        <p:nvSpPr>
          <p:cNvPr id="6" name="execute">
            <a:extLst xmlns:a="http://schemas.openxmlformats.org/drawingml/2006/main">
              <a:ext uri="{FF2B5EF4-FFF2-40B4-BE49-F238E27FC236}">
                <a16:creationId xmlns:a16="http://schemas.microsoft.com/office/drawing/2014/main" id="{D3D77140-1FE6-42A8-BE74-7005F57BF72A}"/>
              </a:ext>
            </a:extLst>
          </p:cNvPr>
          <p:cNvSpPr>
            <a:spLocks xmlns:a="http://schemas.openxmlformats.org/drawingml/2006/main" noGrp="1"/>
          </p:cNvSpPr>
          <p:nvPr/>
        </p:nvSpPr>
        <p:spPr>
          <a:xfrm xmlns:a="http://schemas.openxmlformats.org/drawingml/2006/main">
            <a:off x="762000" y="46196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B2A49"/>
                </a:solidFill>
                <a:latin typeface="Open Sans"/>
                <a:ea typeface="Open Sans"/>
                <a:cs typeface="Open Sans"/>
              </a:defRPr>
            </a:defPPr>
          </a:lstStyle>
          <a:p xmlns:a="http://schemas.openxmlformats.org/drawingml/2006/main">
            <a:pPr>
              <a:defRPr sz="1875" b="1">
                <a:solidFill>
                  <a:srgbClr val="1B2A49"/>
                </a:solidFill>
                <a:latin typeface="Open Sans"/>
                <a:ea typeface="Open Sans"/>
                <a:cs typeface="Open Sans"/>
              </a:defRPr>
            </a:pPr>
            <a:r>
              <a:rPr sz="1875" b="1">
                <a:solidFill>
                  <a:srgbClr val="1B2A49"/>
                </a:solidFill>
                <a:latin typeface="Open Sans"/>
                <a:ea typeface="Open Sans"/>
                <a:cs typeface="Open Sans"/>
              </a:rPr>
              <a:t>python -m medtech.cli demo misconfigured --out reports</a:t>
            </a:r>
          </a:p>
        </p:txBody>
      </p:sp>
      <p:sp>
        <p:nvSpPr>
          <p:cNvPr id="7" name="demo-instructions">
            <a:extLst xmlns:a="http://schemas.openxmlformats.org/drawingml/2006/main">
              <a:ext uri="{FF2B5EF4-FFF2-40B4-BE49-F238E27FC236}">
                <a16:creationId xmlns:a16="http://schemas.microsoft.com/office/drawing/2014/main" id="{A59CAFAA-6542-496E-8F65-86752749B9A4}"/>
              </a:ext>
            </a:extLst>
          </p:cNvPr>
          <p:cNvSpPr>
            <a:spLocks xmlns:a="http://schemas.openxmlformats.org/drawingml/2006/main" noGrp="1"/>
          </p:cNvSpPr>
          <p:nvPr/>
        </p:nvSpPr>
        <p:spPr>
          <a:xfrm xmlns:a="http://schemas.openxmlformats.org/drawingml/2006/main">
            <a:off x="762000" y="52387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0F172A"/>
                </a:solidFill>
                <a:latin typeface="Open Sans"/>
                <a:ea typeface="Open Sans"/>
                <a:cs typeface="Open Sans"/>
              </a:defRPr>
            </a:defPPr>
          </a:lstStyle>
          <a:p xmlns:a="http://schemas.openxmlformats.org/drawingml/2006/main">
            <a:pPr>
              <a:defRPr sz="1950" b="0">
                <a:solidFill>
                  <a:srgbClr val="0F172A"/>
                </a:solidFill>
                <a:latin typeface="Open Sans"/>
                <a:ea typeface="Open Sans"/>
                <a:cs typeface="Open Sans"/>
              </a:defRPr>
            </a:pPr>
            <a:r>
              <a:rPr sz="1950" b="0">
                <a:solidFill>
                  <a:srgbClr val="0F172A"/>
                </a:solidFill>
                <a:latin typeface="Open Sans"/>
                <a:ea typeface="Open Sans"/>
                <a:cs typeface="Open Sans"/>
              </a:rPr>
              <a:t>Inspect evidence, notification preview and downloadable JSON/HTML.</a:t>
            </a:r>
          </a:p>
          <a:p xmlns:a="http://schemas.openxmlformats.org/drawingml/2006/main">
            <a:pPr>
              <a:defRPr sz="1950" b="0">
                <a:solidFill>
                  <a:srgbClr val="0F172A"/>
                </a:solidFill>
                <a:latin typeface="Open Sans"/>
                <a:ea typeface="Open Sans"/>
                <a:cs typeface="Open Sans"/>
              </a:defRPr>
            </a:pPr>
            <a:r>
              <a:rPr sz="1950" b="0">
                <a:solidFill>
                  <a:srgbClr val="0F172A"/>
                </a:solidFill>
                <a:latin typeface="Open Sans"/>
                <a:ea typeface="Open Sans"/>
                <a:cs typeface="Open Sans"/>
              </a:rPr>
              <a:t>Local backup: extract the project ZIP and open demo/index.html.</a:t>
            </a:r>
          </a:p>
        </p:txBody>
      </p:sp>
      <p:sp>
        <p:nvSpPr>
          <p:cNvPr id="8" name="demo-link">
            <a:extLst xmlns:a="http://schemas.openxmlformats.org/drawingml/2006/main">
              <a:ext uri="{FF2B5EF4-FFF2-40B4-BE49-F238E27FC236}">
                <a16:creationId xmlns:a16="http://schemas.microsoft.com/office/drawing/2014/main" id="{C7C9B18C-930D-43B5-AAC3-8C3CE5687E46}"/>
              </a:ext>
            </a:extLst>
          </p:cNvPr>
          <p:cNvSpPr>
            <a:spLocks xmlns:a="http://schemas.openxmlformats.org/drawingml/2006/main" noGrp="1"/>
          </p:cNvSpPr>
          <p:nvPr/>
        </p:nvSpPr>
        <p:spPr>
          <a:xfrm xmlns:a="http://schemas.openxmlformats.org/drawingml/2006/main">
            <a:off x="762000" y="60960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C41230"/>
                </a:solidFill>
                <a:latin typeface="Open Sans"/>
                <a:ea typeface="Open Sans"/>
                <a:cs typeface="Open Sans"/>
              </a:defRPr>
            </a:defPPr>
          </a:lstStyle>
          <a:p xmlns:a="http://schemas.openxmlformats.org/drawingml/2006/main">
            <a:pPr>
              <a:defRPr sz="1500" b="0">
                <a:solidFill>
                  <a:srgbClr val="C41230"/>
                </a:solidFill>
                <a:latin typeface="Open Sans"/>
                <a:ea typeface="Open Sans"/>
                <a:cs typeface="Open Sans"/>
              </a:defRPr>
            </a:pPr>
            <a:r>
              <a:rPr sz="1500" b="0">
                <a:solidFill>
                  <a:srgbClr val="C41230"/>
                </a:solidFill>
                <a:latin typeface="Open Sans"/>
                <a:ea typeface="Open Sans"/>
                <a:cs typeface="Open Sans"/>
                <a:hlinkClick xmlns:r="http://schemas.openxmlformats.org/officeDocument/2006/relationships" r:id="R91eb45902aff4db6"/>
              </a:rPr>
              <a:t>Hosted replay (owner login may be required)</a:t>
            </a:r>
          </a:p>
        </p:txBody>
      </p:sp>
    </p:spTree>
    <p:extLst>
      <p:ext uri="{BB962C8B-B14F-4D97-AF65-F5344CB8AC3E}">
        <p14:creationId xmlns:p14="http://schemas.microsoft.com/office/powerpoint/2010/main" val="1964605158"/>
      </p:ext>
    </p:extLst>
  </p:cSld>
</p:sld>
</file>

<file path=ppt/slides/slide9.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35848BB-40DA-415A-8D7F-39A5311200A5}"/>
              </a:ext>
            </a:extLst>
          </p:cNvPr>
          <p:cNvPicPr>
            <a:picLocks xmlns:a="http://schemas.openxmlformats.org/drawingml/2006/main" noChangeAspect="1"/>
          </p:cNvPicPr>
          <p:nvPr/>
        </p:nvPicPr>
        <p:blipFill>
          <a:blip xmlns:r="http://schemas.openxmlformats.org/officeDocument/2006/relationships" xmlns:a="http://schemas.openxmlformats.org/drawingml/2006/main" r:embed="R96f9638f89864f9d"/>
          <a:stretch xmlns:a="http://schemas.openxmlformats.org/drawingml/2006/main"/>
        </p:blipFill>
        <p:spPr>
          <a:xfrm xmlns:a="http://schemas.openxmlformats.org/drawingml/2006/main">
            <a:off x="16" y="0"/>
            <a:ext cx="4445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805DB8AC-8377-467E-B9D8-C4A9622C17C6}"/>
              </a:ext>
            </a:extLst>
          </p:cNvPr>
          <p:cNvSpPr>
            <a:spLocks xmlns:a="http://schemas.openxmlformats.org/drawingml/2006/main" noGrp="1"/>
          </p:cNvSpPr>
          <p:nvPr/>
        </p:nvSpPr>
        <p:spPr>
          <a:xfrm xmlns:a="http://schemas.openxmlformats.org/drawingml/2006/main">
            <a:off x="723900" y="4000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C41230"/>
                </a:solidFill>
                <a:latin typeface="Open Sans"/>
                <a:ea typeface="Open Sans"/>
                <a:cs typeface="Open Sans"/>
              </a:defRPr>
            </a:defPPr>
          </a:lstStyle>
          <a:p xmlns:a="http://schemas.openxmlformats.org/drawingml/2006/main">
            <a:pPr>
              <a:defRPr sz="1200" b="1">
                <a:solidFill>
                  <a:srgbClr val="C41230"/>
                </a:solidFill>
                <a:latin typeface="Open Sans"/>
                <a:ea typeface="Open Sans"/>
                <a:cs typeface="Open Sans"/>
              </a:defRPr>
            </a:pPr>
            <a:r>
              <a:rPr sz="1200" b="1">
                <a:solidFill>
                  <a:srgbClr val="C41230"/>
                </a:solidFill>
                <a:latin typeface="Open Sans"/>
                <a:ea typeface="Open Sans"/>
                <a:cs typeface="Open Sans"/>
              </a:rPr>
              <a:t>DEMO / REVIEWER EVIDENCE</a:t>
            </a:r>
          </a:p>
        </p:txBody>
      </p:sp>
      <p:sp>
        <p:nvSpPr>
          <p:cNvPr id="3" name="title">
            <a:extLst xmlns:a="http://schemas.openxmlformats.org/drawingml/2006/main">
              <a:ext uri="{FF2B5EF4-FFF2-40B4-BE49-F238E27FC236}">
                <a16:creationId xmlns:a16="http://schemas.microsoft.com/office/drawing/2014/main" id="{870360A8-BE4D-471D-913E-525364A89478}"/>
              </a:ext>
            </a:extLst>
          </p:cNvPr>
          <p:cNvSpPr>
            <a:spLocks xmlns:a="http://schemas.openxmlformats.org/drawingml/2006/main" noGrp="1"/>
          </p:cNvSpPr>
          <p:nvPr/>
        </p:nvSpPr>
        <p:spPr>
          <a:xfrm xmlns:a="http://schemas.openxmlformats.org/drawingml/2006/main">
            <a:off x="723900" y="838200"/>
            <a:ext cx="10744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0">
                <a:solidFill>
                  <a:srgbClr val="55595F"/>
                </a:solidFill>
                <a:latin typeface="Open Sans"/>
                <a:ea typeface="Open Sans"/>
                <a:cs typeface="Open Sans"/>
              </a:defRPr>
            </a:defPPr>
          </a:lstStyle>
          <a:p xmlns:a="http://schemas.openxmlformats.org/drawingml/2006/main">
            <a:pPr>
              <a:defRPr sz="2925" b="0">
                <a:solidFill>
                  <a:srgbClr val="55595F"/>
                </a:solidFill>
                <a:latin typeface="Open Sans"/>
                <a:ea typeface="Open Sans"/>
                <a:cs typeface="Open Sans"/>
              </a:defRPr>
            </a:pPr>
            <a:r>
              <a:rPr sz="2925" b="0">
                <a:solidFill>
                  <a:srgbClr val="55595F"/>
                </a:solidFill>
                <a:latin typeface="Open Sans"/>
                <a:ea typeface="Open Sans"/>
                <a:cs typeface="Open Sans"/>
              </a:rPr>
              <a:t>A critical finding with a reviewable next step</a:t>
            </a:r>
          </a:p>
        </p:txBody>
      </p:sp>
      <p:sp>
        <p:nvSpPr>
          <p:cNvPr id="4" name="footer">
            <a:extLst xmlns:a="http://schemas.openxmlformats.org/drawingml/2006/main">
              <a:ext uri="{FF2B5EF4-FFF2-40B4-BE49-F238E27FC236}">
                <a16:creationId xmlns:a16="http://schemas.microsoft.com/office/drawing/2014/main" id="{ADBE4671-BB28-458A-AAEA-981A5E0B8164}"/>
              </a:ext>
            </a:extLst>
          </p:cNvPr>
          <p:cNvSpPr>
            <a:spLocks xmlns:a="http://schemas.openxmlformats.org/drawingml/2006/main" noGrp="1"/>
          </p:cNvSpPr>
          <p:nvPr/>
        </p:nvSpPr>
        <p:spPr>
          <a:xfrm xmlns:a="http://schemas.openxmlformats.org/drawingml/2006/main">
            <a:off x="7239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55595F"/>
                </a:solidFill>
                <a:latin typeface="Open Sans"/>
                <a:ea typeface="Open Sans"/>
                <a:cs typeface="Open Sans"/>
              </a:defRPr>
            </a:defPPr>
          </a:lstStyle>
          <a:p xmlns:a="http://schemas.openxmlformats.org/drawingml/2006/main">
            <a:pPr>
              <a:defRPr sz="975" b="0">
                <a:solidFill>
                  <a:srgbClr val="55595F"/>
                </a:solidFill>
                <a:latin typeface="Open Sans"/>
                <a:ea typeface="Open Sans"/>
                <a:cs typeface="Open Sans"/>
              </a:defRPr>
            </a:pPr>
            <a:r>
              <a:rPr sz="975" b="0">
                <a:solidFill>
                  <a:srgbClr val="55595F"/>
                </a:solidFill>
                <a:latin typeface="Open Sans"/>
                <a:ea typeface="Open Sans"/>
                <a:cs typeface="Open Sans"/>
              </a:rPr>
              <a:t>Carnegie Mellon University   /   Charlotte Zhang &amp; Nana Ge   /   9</a:t>
            </a:r>
          </a:p>
        </p:txBody>
      </p:sp>
      <p:graphicFrame>
        <p:nvGraphicFramePr>
          <p:cNvPr id="5" name="">
            <a:extLst xmlns:a="http://schemas.openxmlformats.org/drawingml/2006/main">
              <a:ext uri="{FF2B5EF4-FFF2-40B4-BE49-F238E27FC236}">
                <a16:creationId xmlns:a16="http://schemas.microsoft.com/office/drawing/2014/main" id="{FC557B2B-0ADC-4146-ADCF-C798B90E5501}"/>
              </a:ext>
            </a:extLst>
          </p:cNvPr>
          <p:cNvGraphicFramePr/>
          <p:nvPr/>
        </p:nvGraphicFramePr>
        <p:xfrm>
          <a:off xmlns:a="http://schemas.openxmlformats.org/drawingml/2006/main" x="762000" y="1952625"/>
          <a:ext xmlns:a="http://schemas.openxmlformats.org/drawingml/2006/main" cx="10668000" cy="2952750"/>
        </p:xfrm>
        <a:graphic xmlns:a="http://schemas.openxmlformats.org/drawingml/2006/main">
          <a:graphicData uri="http://schemas.openxmlformats.org/drawingml/2006/table">
            <a:tbl>
              <a:tblPr/>
              <a:tblGrid>
                <a:gridCol w="3000375"/>
                <a:gridCol w="7667625"/>
              </a:tblGrid>
              <a:tr h="590550">
                <a:tc>
                  <a:txBody>
                    <a:bodyPr lIns="95250" tIns="95250" rIns="95250" bIns="95250">
                      <a:noAutofit/>
                    </a:bodyPr>
                    <a:lstStyle/>
                    <a:p>
                      <a:r>
                        <a:rPr sz="1875" b="1">
                          <a:solidFill>
                            <a:srgbClr val="FFFFFF"/>
                          </a:solidFill>
                          <a:latin typeface="Open Sans"/>
                          <a:ea typeface="Open Sans"/>
                          <a:cs typeface="Open Sans"/>
                        </a:rPr>
                        <a:t>Field</a:t>
                      </a:r>
                    </a:p>
                  </a:txBody>
                  <a:tcPr marL="91440" marR="91440" marT="45720" marB="45720" anchor="ctr">
                    <a:lnL w="9525">
                      <a:solidFill>
                        <a:srgbClr val="D5DCE6"/>
                      </a:solidFill>
                      <a:prstDash val="solid"/>
                    </a:lnL>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c>
                  <a:txBody>
                    <a:bodyPr lIns="95250" tIns="95250" rIns="95250" bIns="95250">
                      <a:noAutofit/>
                    </a:bodyPr>
                    <a:lstStyle/>
                    <a:p>
                      <a:r>
                        <a:rPr sz="1875" b="1">
                          <a:solidFill>
                            <a:srgbClr val="FFFFFF"/>
                          </a:solidFill>
                          <a:latin typeface="Open Sans"/>
                          <a:ea typeface="Open Sans"/>
                          <a:cs typeface="Open Sans"/>
                        </a:rPr>
                        <a:t>Actual misconfigured-fixture result</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r>
              <a:tr h="590550">
                <a:tc>
                  <a:txBody>
                    <a:bodyPr lIns="95250" tIns="95250" rIns="95250" bIns="95250">
                      <a:noAutofit/>
                    </a:bodyPr>
                    <a:lstStyle/>
                    <a:p>
                      <a:r>
                        <a:rPr sz="1950" b="0">
                          <a:solidFill>
                            <a:srgbClr val="0F172A"/>
                          </a:solidFill>
                          <a:latin typeface="Open Sans"/>
                          <a:ea typeface="Open Sans"/>
                          <a:cs typeface="Open Sans"/>
                        </a:rPr>
                        <a:t>Control / resource</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950" b="0">
                          <a:solidFill>
                            <a:srgbClr val="0F172A"/>
                          </a:solidFill>
                          <a:latin typeface="Open Sans"/>
                          <a:ea typeface="Open Sans"/>
                          <a:cs typeface="Open Sans"/>
                        </a:rPr>
                        <a:t>IAM_MFA / root</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590550">
                <a:tc>
                  <a:txBody>
                    <a:bodyPr lIns="95250" tIns="95250" rIns="95250" bIns="95250">
                      <a:noAutofit/>
                    </a:bodyPr>
                    <a:lstStyle/>
                    <a:p>
                      <a:r>
                        <a:rPr sz="1950" b="0">
                          <a:solidFill>
                            <a:srgbClr val="0F172A"/>
                          </a:solidFill>
                          <a:latin typeface="Open Sans"/>
                          <a:ea typeface="Open Sans"/>
                          <a:cs typeface="Open Sans"/>
                        </a:rPr>
                        <a:t>Observed evidence</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950" b="0">
                          <a:solidFill>
                            <a:srgbClr val="0F172A"/>
                          </a:solidFill>
                          <a:latin typeface="Open Sans"/>
                          <a:ea typeface="Open Sans"/>
                          <a:cs typeface="Open Sans"/>
                        </a:rPr>
                        <a:t>AccountMFAEnabled: 0</a:t>
                      </a:r>
                    </a:p>
                  </a:txBody>
                  <a:tcPr marL="91440" marR="91440" marT="45720" marB="45720" anchor="ctr">
                    <a:lnR w="9525">
                      <a:solidFill>
                        <a:srgbClr val="D5DCE6"/>
                      </a:solidFill>
                      <a:prstDash val="solid"/>
                    </a:lnR>
                    <a:lnB w="9525">
                      <a:solidFill>
                        <a:srgbClr val="D5DCE6"/>
                      </a:solidFill>
                      <a:prstDash val="solid"/>
                    </a:lnB>
                    <a:solidFill>
                      <a:srgbClr val="EEF1F6"/>
                    </a:solidFill>
                  </a:tcPr>
                </a:tc>
              </a:tr>
              <a:tr h="590550">
                <a:tc>
                  <a:txBody>
                    <a:bodyPr lIns="95250" tIns="95250" rIns="95250" bIns="95250">
                      <a:noAutofit/>
                    </a:bodyPr>
                    <a:lstStyle/>
                    <a:p>
                      <a:r>
                        <a:rPr sz="1950" b="0">
                          <a:solidFill>
                            <a:srgbClr val="0F172A"/>
                          </a:solidFill>
                          <a:latin typeface="Open Sans"/>
                          <a:ea typeface="Open Sans"/>
                          <a:cs typeface="Open Sans"/>
                        </a:rPr>
                        <a:t>Status / triage</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950" b="0">
                          <a:solidFill>
                            <a:srgbClr val="0F172A"/>
                          </a:solidFill>
                          <a:latin typeface="Open Sans"/>
                          <a:ea typeface="Open Sans"/>
                          <a:cs typeface="Open Sans"/>
                        </a:rPr>
                        <a:t>FAIL / CRITICAL</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590550">
                <a:tc>
                  <a:txBody>
                    <a:bodyPr lIns="95250" tIns="95250" rIns="95250" bIns="95250">
                      <a:noAutofit/>
                    </a:bodyPr>
                    <a:lstStyle/>
                    <a:p>
                      <a:r>
                        <a:rPr sz="1950" b="0">
                          <a:solidFill>
                            <a:srgbClr val="0F172A"/>
                          </a:solidFill>
                          <a:latin typeface="Open Sans"/>
                          <a:ea typeface="Open Sans"/>
                          <a:cs typeface="Open Sans"/>
                        </a:rPr>
                        <a:t>Suggested action</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950" b="0">
                          <a:solidFill>
                            <a:srgbClr val="0F172A"/>
                          </a:solidFill>
                          <a:latin typeface="Open Sans"/>
                          <a:ea typeface="Open Sans"/>
                          <a:cs typeface="Open Sans"/>
                        </a:rPr>
                        <a:t>Enroll root MFA or verify centralized removal</a:t>
                      </a:r>
                    </a:p>
                  </a:txBody>
                  <a:tcPr marL="91440" marR="91440" marT="45720" marB="45720" anchor="ctr">
                    <a:lnR w="9525">
                      <a:solidFill>
                        <a:srgbClr val="D5DCE6"/>
                      </a:solidFill>
                      <a:prstDash val="solid"/>
                    </a:lnR>
                    <a:lnB w="9525">
                      <a:solidFill>
                        <a:srgbClr val="D5DCE6"/>
                      </a:solidFill>
                      <a:prstDash val="solid"/>
                    </a:lnB>
                    <a:solidFill>
                      <a:srgbClr val="EEF1F6"/>
                    </a:solidFill>
                  </a:tcPr>
                </a:tc>
              </a:tr>
            </a:tbl>
          </a:graphicData>
        </a:graphic>
      </p:graphicFrame>
      <p:sp>
        <p:nvSpPr>
          <p:cNvPr id="6" name="summary-label">
            <a:extLst xmlns:a="http://schemas.openxmlformats.org/drawingml/2006/main">
              <a:ext uri="{FF2B5EF4-FFF2-40B4-BE49-F238E27FC236}">
                <a16:creationId xmlns:a16="http://schemas.microsoft.com/office/drawing/2014/main" id="{73173889-ACBB-46B5-968B-5F7596CC8633}"/>
              </a:ext>
            </a:extLst>
          </p:cNvPr>
          <p:cNvSpPr>
            <a:spLocks xmlns:a="http://schemas.openxmlformats.org/drawingml/2006/main" noGrp="1"/>
          </p:cNvSpPr>
          <p:nvPr/>
        </p:nvSpPr>
        <p:spPr>
          <a:xfrm xmlns:a="http://schemas.openxmlformats.org/drawingml/2006/main">
            <a:off x="762000" y="528637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B2A49"/>
                </a:solidFill>
                <a:latin typeface="Open Sans"/>
                <a:ea typeface="Open Sans"/>
                <a:cs typeface="Open Sans"/>
              </a:defRPr>
            </a:defPPr>
          </a:lstStyle>
          <a:p xmlns:a="http://schemas.openxmlformats.org/drawingml/2006/main">
            <a:pPr>
              <a:defRPr sz="1950" b="1">
                <a:solidFill>
                  <a:srgbClr val="1B2A49"/>
                </a:solidFill>
                <a:latin typeface="Open Sans"/>
                <a:ea typeface="Open Sans"/>
                <a:cs typeface="Open Sans"/>
              </a:defRPr>
            </a:pPr>
            <a:r>
              <a:rPr sz="1950" b="1">
                <a:solidFill>
                  <a:srgbClr val="1B2A49"/>
                </a:solidFill>
                <a:latin typeface="Open Sans"/>
                <a:ea typeface="Open Sans"/>
                <a:cs typeface="Open Sans"/>
              </a:rPr>
              <a:t>SNS preview</a:t>
            </a:r>
          </a:p>
        </p:txBody>
      </p:sp>
      <p:sp>
        <p:nvSpPr>
          <p:cNvPr id="7" name="summary">
            <a:extLst xmlns:a="http://schemas.openxmlformats.org/drawingml/2006/main">
              <a:ext uri="{FF2B5EF4-FFF2-40B4-BE49-F238E27FC236}">
                <a16:creationId xmlns:a16="http://schemas.microsoft.com/office/drawing/2014/main" id="{9FC8FA47-837D-4BAE-85BF-F8BC3C0DEB99}"/>
              </a:ext>
            </a:extLst>
          </p:cNvPr>
          <p:cNvSpPr>
            <a:spLocks xmlns:a="http://schemas.openxmlformats.org/drawingml/2006/main" noGrp="1"/>
          </p:cNvSpPr>
          <p:nvPr/>
        </p:nvSpPr>
        <p:spPr>
          <a:xfrm xmlns:a="http://schemas.openxmlformats.org/drawingml/2006/main">
            <a:off x="3476625" y="5286375"/>
            <a:ext cx="7858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0F172A"/>
                </a:solidFill>
                <a:latin typeface="Open Sans"/>
                <a:ea typeface="Open Sans"/>
                <a:cs typeface="Open Sans"/>
              </a:defRPr>
            </a:defPPr>
          </a:lstStyle>
          <a:p xmlns:a="http://schemas.openxmlformats.org/drawingml/2006/main">
            <a:pPr>
              <a:defRPr sz="1875" b="0">
                <a:solidFill>
                  <a:srgbClr val="0F172A"/>
                </a:solidFill>
                <a:latin typeface="Open Sans"/>
                <a:ea typeface="Open Sans"/>
                <a:cs typeface="Open Sans"/>
              </a:defRPr>
            </a:pPr>
            <a:r>
              <a:rPr sz="1875" b="0">
                <a:solidFill>
                  <a:srgbClr val="0F172A"/>
                </a:solidFill>
                <a:latin typeface="Open Sans"/>
                <a:ea typeface="Open Sans"/>
                <a:cs typeface="Open Sans"/>
              </a:rPr>
              <a:t>FAIL: 6 findings, 0 unknown, 1 N/A. Detailed evidence remains in the restricted report.</a:t>
            </a:r>
          </a:p>
        </p:txBody>
      </p:sp>
      <p:sp>
        <p:nvSpPr>
          <p:cNvPr id="8" name="synthetic">
            <a:extLst xmlns:a="http://schemas.openxmlformats.org/drawingml/2006/main">
              <a:ext uri="{FF2B5EF4-FFF2-40B4-BE49-F238E27FC236}">
                <a16:creationId xmlns:a16="http://schemas.microsoft.com/office/drawing/2014/main" id="{D2E445D9-6582-4751-AC25-23F30E473EF0}"/>
              </a:ext>
            </a:extLst>
          </p:cNvPr>
          <p:cNvSpPr>
            <a:spLocks xmlns:a="http://schemas.openxmlformats.org/drawingml/2006/main" noGrp="1"/>
          </p:cNvSpPr>
          <p:nvPr/>
        </p:nvSpPr>
        <p:spPr>
          <a:xfrm xmlns:a="http://schemas.openxmlformats.org/drawingml/2006/main">
            <a:off x="762000" y="609600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5595F"/>
                </a:solidFill>
                <a:latin typeface="Open Sans"/>
                <a:ea typeface="Open Sans"/>
                <a:cs typeface="Open Sans"/>
              </a:defRPr>
            </a:defPPr>
          </a:lstStyle>
          <a:p xmlns:a="http://schemas.openxmlformats.org/drawingml/2006/main">
            <a:pPr>
              <a:defRPr sz="1500" b="0">
                <a:solidFill>
                  <a:srgbClr val="55595F"/>
                </a:solidFill>
                <a:latin typeface="Open Sans"/>
                <a:ea typeface="Open Sans"/>
                <a:cs typeface="Open Sans"/>
              </a:defRPr>
            </a:pPr>
            <a:r>
              <a:rPr sz="1500" b="0">
                <a:solidFill>
                  <a:srgbClr val="55595F"/>
                </a:solidFill>
                <a:latin typeface="Open Sans"/>
                <a:ea typeface="Open Sans"/>
                <a:cs typeface="Open Sans"/>
              </a:rPr>
              <a:t>Synthetic evidence only. No observed breach, real account scan or email delivery.</a:t>
            </a:r>
          </a:p>
        </p:txBody>
      </p:sp>
    </p:spTree>
    <p:extLst>
      <p:ext uri="{BB962C8B-B14F-4D97-AF65-F5344CB8AC3E}">
        <p14:creationId xmlns:p14="http://schemas.microsoft.com/office/powerpoint/2010/main" val="990642335"/>
      </p:ext>
    </p:extLst>
  </p:cSld>
</p:sld>
</file>

<file path=ppt/slides/slide10.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9401B2D-D798-416F-B99C-720D5C8C039B}"/>
              </a:ext>
            </a:extLst>
          </p:cNvPr>
          <p:cNvPicPr>
            <a:picLocks xmlns:a="http://schemas.openxmlformats.org/drawingml/2006/main" noChangeAspect="1"/>
          </p:cNvPicPr>
          <p:nvPr/>
        </p:nvPicPr>
        <p:blipFill>
          <a:blip xmlns:r="http://schemas.openxmlformats.org/officeDocument/2006/relationships" xmlns:a="http://schemas.openxmlformats.org/drawingml/2006/main" r:embed="Rfa7c32e525f24284"/>
          <a:stretch xmlns:a="http://schemas.openxmlformats.org/drawingml/2006/main"/>
        </p:blipFill>
        <p:spPr>
          <a:xfrm xmlns:a="http://schemas.openxmlformats.org/drawingml/2006/main">
            <a:off x="16" y="0"/>
            <a:ext cx="4445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4132BA6E-0051-4D9A-9997-D9BFB291B3AA}"/>
              </a:ext>
            </a:extLst>
          </p:cNvPr>
          <p:cNvSpPr>
            <a:spLocks xmlns:a="http://schemas.openxmlformats.org/drawingml/2006/main" noGrp="1"/>
          </p:cNvSpPr>
          <p:nvPr/>
        </p:nvSpPr>
        <p:spPr>
          <a:xfrm xmlns:a="http://schemas.openxmlformats.org/drawingml/2006/main">
            <a:off x="723900" y="4000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C41230"/>
                </a:solidFill>
                <a:latin typeface="Open Sans"/>
                <a:ea typeface="Open Sans"/>
                <a:cs typeface="Open Sans"/>
              </a:defRPr>
            </a:defPPr>
          </a:lstStyle>
          <a:p xmlns:a="http://schemas.openxmlformats.org/drawingml/2006/main">
            <a:pPr>
              <a:defRPr sz="1200" b="1">
                <a:solidFill>
                  <a:srgbClr val="C41230"/>
                </a:solidFill>
                <a:latin typeface="Open Sans"/>
                <a:ea typeface="Open Sans"/>
                <a:cs typeface="Open Sans"/>
              </a:defRPr>
            </a:pPr>
            <a:r>
              <a:rPr sz="1200" b="1">
                <a:solidFill>
                  <a:srgbClr val="C41230"/>
                </a:solidFill>
                <a:latin typeface="Open Sans"/>
                <a:ea typeface="Open Sans"/>
                <a:cs typeface="Open Sans"/>
              </a:rPr>
              <a:t>METRICS AND VALUE</a:t>
            </a:r>
          </a:p>
        </p:txBody>
      </p:sp>
      <p:sp>
        <p:nvSpPr>
          <p:cNvPr id="3" name="title">
            <a:extLst xmlns:a="http://schemas.openxmlformats.org/drawingml/2006/main">
              <a:ext uri="{FF2B5EF4-FFF2-40B4-BE49-F238E27FC236}">
                <a16:creationId xmlns:a16="http://schemas.microsoft.com/office/drawing/2014/main" id="{2E64D628-2C80-4746-9020-FE8546C5FDF5}"/>
              </a:ext>
            </a:extLst>
          </p:cNvPr>
          <p:cNvSpPr>
            <a:spLocks xmlns:a="http://schemas.openxmlformats.org/drawingml/2006/main" noGrp="1"/>
          </p:cNvSpPr>
          <p:nvPr/>
        </p:nvSpPr>
        <p:spPr>
          <a:xfrm xmlns:a="http://schemas.openxmlformats.org/drawingml/2006/main">
            <a:off x="723900" y="838200"/>
            <a:ext cx="10744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0">
                <a:solidFill>
                  <a:srgbClr val="55595F"/>
                </a:solidFill>
                <a:latin typeface="Open Sans"/>
                <a:ea typeface="Open Sans"/>
                <a:cs typeface="Open Sans"/>
              </a:defRPr>
            </a:defPPr>
          </a:lstStyle>
          <a:p xmlns:a="http://schemas.openxmlformats.org/drawingml/2006/main">
            <a:pPr>
              <a:defRPr sz="2925" b="0">
                <a:solidFill>
                  <a:srgbClr val="55595F"/>
                </a:solidFill>
                <a:latin typeface="Open Sans"/>
                <a:ea typeface="Open Sans"/>
                <a:cs typeface="Open Sans"/>
              </a:defRPr>
            </a:pPr>
            <a:r>
              <a:rPr sz="2925" b="0">
                <a:solidFill>
                  <a:srgbClr val="55595F"/>
                </a:solidFill>
                <a:latin typeface="Open Sans"/>
                <a:ea typeface="Open Sans"/>
                <a:cs typeface="Open Sans"/>
              </a:rPr>
              <a:t>Assumptions make the business case reviewable</a:t>
            </a:r>
          </a:p>
        </p:txBody>
      </p:sp>
      <p:sp>
        <p:nvSpPr>
          <p:cNvPr id="4" name="footer">
            <a:extLst xmlns:a="http://schemas.openxmlformats.org/drawingml/2006/main">
              <a:ext uri="{FF2B5EF4-FFF2-40B4-BE49-F238E27FC236}">
                <a16:creationId xmlns:a16="http://schemas.microsoft.com/office/drawing/2014/main" id="{08A18F08-B267-4D2A-B794-CFA6CE7E5119}"/>
              </a:ext>
            </a:extLst>
          </p:cNvPr>
          <p:cNvSpPr>
            <a:spLocks xmlns:a="http://schemas.openxmlformats.org/drawingml/2006/main" noGrp="1"/>
          </p:cNvSpPr>
          <p:nvPr/>
        </p:nvSpPr>
        <p:spPr>
          <a:xfrm xmlns:a="http://schemas.openxmlformats.org/drawingml/2006/main">
            <a:off x="7239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55595F"/>
                </a:solidFill>
                <a:latin typeface="Open Sans"/>
                <a:ea typeface="Open Sans"/>
                <a:cs typeface="Open Sans"/>
              </a:defRPr>
            </a:defPPr>
          </a:lstStyle>
          <a:p xmlns:a="http://schemas.openxmlformats.org/drawingml/2006/main">
            <a:pPr>
              <a:defRPr sz="975" b="0">
                <a:solidFill>
                  <a:srgbClr val="55595F"/>
                </a:solidFill>
                <a:latin typeface="Open Sans"/>
                <a:ea typeface="Open Sans"/>
                <a:cs typeface="Open Sans"/>
              </a:defRPr>
            </a:pPr>
            <a:r>
              <a:rPr sz="975" b="0">
                <a:solidFill>
                  <a:srgbClr val="55595F"/>
                </a:solidFill>
                <a:latin typeface="Open Sans"/>
                <a:ea typeface="Open Sans"/>
                <a:cs typeface="Open Sans"/>
              </a:rPr>
              <a:t>Carnegie Mellon University   /   Charlotte Zhang &amp; Nana Ge   /   10</a:t>
            </a:r>
          </a:p>
        </p:txBody>
      </p:sp>
      <p:sp>
        <p:nvSpPr>
          <p:cNvPr id="5" name="time-value">
            <a:extLst xmlns:a="http://schemas.openxmlformats.org/drawingml/2006/main">
              <a:ext uri="{FF2B5EF4-FFF2-40B4-BE49-F238E27FC236}">
                <a16:creationId xmlns:a16="http://schemas.microsoft.com/office/drawing/2014/main" id="{6525AD54-6BB5-476D-8EBD-C143DE8A0E95}"/>
              </a:ext>
            </a:extLst>
          </p:cNvPr>
          <p:cNvSpPr>
            <a:spLocks xmlns:a="http://schemas.openxmlformats.org/drawingml/2006/main" noGrp="1"/>
          </p:cNvSpPr>
          <p:nvPr/>
        </p:nvSpPr>
        <p:spPr>
          <a:xfrm xmlns:a="http://schemas.openxmlformats.org/drawingml/2006/main">
            <a:off x="762000" y="195262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C41230"/>
                </a:solidFill>
                <a:latin typeface="Open Sans"/>
                <a:ea typeface="Open Sans"/>
                <a:cs typeface="Open Sans"/>
              </a:defRPr>
            </a:defPPr>
          </a:lstStyle>
          <a:p xmlns:a="http://schemas.openxmlformats.org/drawingml/2006/main">
            <a:pPr>
              <a:defRPr sz="3375" b="1">
                <a:solidFill>
                  <a:srgbClr val="C41230"/>
                </a:solidFill>
                <a:latin typeface="Open Sans"/>
                <a:ea typeface="Open Sans"/>
                <a:cs typeface="Open Sans"/>
              </a:defRPr>
            </a:pPr>
            <a:r>
              <a:rPr sz="3375" b="1">
                <a:solidFill>
                  <a:srgbClr val="C41230"/>
                </a:solidFill>
                <a:latin typeface="Open Sans"/>
                <a:ea typeface="Open Sans"/>
                <a:cs typeface="Open Sans"/>
              </a:rPr>
              <a:t>5 hours / month</a:t>
            </a:r>
          </a:p>
        </p:txBody>
      </p:sp>
      <p:sp>
        <p:nvSpPr>
          <p:cNvPr id="6" name="time-detail">
            <a:extLst xmlns:a="http://schemas.openxmlformats.org/drawingml/2006/main">
              <a:ext uri="{FF2B5EF4-FFF2-40B4-BE49-F238E27FC236}">
                <a16:creationId xmlns:a16="http://schemas.microsoft.com/office/drawing/2014/main" id="{9031BA64-3243-4EC0-85BD-DB9028E9C9D3}"/>
              </a:ext>
            </a:extLst>
          </p:cNvPr>
          <p:cNvSpPr>
            <a:spLocks xmlns:a="http://schemas.openxmlformats.org/drawingml/2006/main" noGrp="1"/>
          </p:cNvSpPr>
          <p:nvPr/>
        </p:nvSpPr>
        <p:spPr>
          <a:xfrm xmlns:a="http://schemas.openxmlformats.org/drawingml/2006/main">
            <a:off x="762000" y="2762250"/>
            <a:ext cx="5095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F172A"/>
                </a:solidFill>
                <a:latin typeface="Open Sans"/>
                <a:ea typeface="Open Sans"/>
                <a:cs typeface="Open Sans"/>
              </a:defRPr>
            </a:defPPr>
          </a:lstStyle>
          <a:p xmlns:a="http://schemas.openxmlformats.org/drawingml/2006/main">
            <a:pPr>
              <a:defRPr sz="2025" b="0">
                <a:solidFill>
                  <a:srgbClr val="0F172A"/>
                </a:solidFill>
                <a:latin typeface="Open Sans"/>
                <a:ea typeface="Open Sans"/>
                <a:cs typeface="Open Sans"/>
              </a:defRPr>
            </a:pPr>
            <a:r>
              <a:rPr sz="2025" b="0">
                <a:solidFill>
                  <a:srgbClr val="0F172A"/>
                </a:solidFill>
                <a:latin typeface="Open Sans"/>
                <a:ea typeface="Open Sans"/>
                <a:cs typeface="Open Sans"/>
              </a:rPr>
              <a:t>30 runs × (15 − 5) human minutes</a:t>
            </a:r>
          </a:p>
          <a:p xmlns:a="http://schemas.openxmlformats.org/drawingml/2006/main">
            <a:pPr>
              <a:defRPr sz="2025" b="0">
                <a:solidFill>
                  <a:srgbClr val="0F172A"/>
                </a:solidFill>
                <a:latin typeface="Open Sans"/>
                <a:ea typeface="Open Sans"/>
                <a:cs typeface="Open Sans"/>
              </a:defRPr>
            </a:pPr>
            <a:r>
              <a:rPr sz="2025" b="0">
                <a:solidFill>
                  <a:srgbClr val="0F172A"/>
                </a:solidFill>
                <a:latin typeface="Open Sans"/>
                <a:ea typeface="Open Sans"/>
                <a:cs typeface="Open Sans"/>
              </a:rPr>
              <a:t>66.7% less human time for these checks</a:t>
            </a:r>
          </a:p>
          <a:p xmlns:a="http://schemas.openxmlformats.org/drawingml/2006/main">
            <a:pPr>
              <a:defRPr sz="2025" b="0">
                <a:solidFill>
                  <a:srgbClr val="0F172A"/>
                </a:solidFill>
                <a:latin typeface="Open Sans"/>
                <a:ea typeface="Open Sans"/>
                <a:cs typeface="Open Sans"/>
              </a:defRPr>
            </a:pPr>
            <a:r>
              <a:rPr sz="2025" b="0">
                <a:solidFill>
                  <a:srgbClr val="0F172A"/>
                </a:solidFill>
                <a:latin typeface="Open Sans"/>
                <a:ea typeface="Open Sans"/>
                <a:cs typeface="Open Sans"/>
              </a:rPr>
              <a:t>$300 staff capacity at assumed $60/hour</a:t>
            </a:r>
          </a:p>
        </p:txBody>
      </p:sp>
      <p:sp>
        <p:nvSpPr>
          <p:cNvPr id="7" name="cost-value">
            <a:extLst xmlns:a="http://schemas.openxmlformats.org/drawingml/2006/main">
              <a:ext uri="{FF2B5EF4-FFF2-40B4-BE49-F238E27FC236}">
                <a16:creationId xmlns:a16="http://schemas.microsoft.com/office/drawing/2014/main" id="{60D30F20-DD93-4062-B726-81EC88D30B4E}"/>
              </a:ext>
            </a:extLst>
          </p:cNvPr>
          <p:cNvSpPr>
            <a:spLocks xmlns:a="http://schemas.openxmlformats.org/drawingml/2006/main" noGrp="1"/>
          </p:cNvSpPr>
          <p:nvPr/>
        </p:nvSpPr>
        <p:spPr>
          <a:xfrm xmlns:a="http://schemas.openxmlformats.org/drawingml/2006/main">
            <a:off x="6667500" y="19526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C41230"/>
                </a:solidFill>
                <a:latin typeface="Open Sans"/>
                <a:ea typeface="Open Sans"/>
                <a:cs typeface="Open Sans"/>
              </a:defRPr>
            </a:defPPr>
          </a:lstStyle>
          <a:p xmlns:a="http://schemas.openxmlformats.org/drawingml/2006/main">
            <a:pPr>
              <a:defRPr sz="3375" b="1">
                <a:solidFill>
                  <a:srgbClr val="C41230"/>
                </a:solidFill>
                <a:latin typeface="Open Sans"/>
                <a:ea typeface="Open Sans"/>
                <a:cs typeface="Open Sans"/>
              </a:defRPr>
            </a:pPr>
            <a:r>
              <a:rPr sz="3375" b="1">
                <a:solidFill>
                  <a:srgbClr val="C41230"/>
                </a:solidFill>
                <a:latin typeface="Open Sans"/>
                <a:ea typeface="Open Sans"/>
                <a:cs typeface="Open Sans"/>
              </a:rPr>
              <a:t>~$0.02 / ~$4.12</a:t>
            </a:r>
          </a:p>
        </p:txBody>
      </p:sp>
      <p:sp>
        <p:nvSpPr>
          <p:cNvPr id="8" name="cost-detail">
            <a:extLst xmlns:a="http://schemas.openxmlformats.org/drawingml/2006/main">
              <a:ext uri="{FF2B5EF4-FFF2-40B4-BE49-F238E27FC236}">
                <a16:creationId xmlns:a16="http://schemas.microsoft.com/office/drawing/2014/main" id="{F1136C7D-DEC4-496A-AFD1-B13AB3E00D31}"/>
              </a:ext>
            </a:extLst>
          </p:cNvPr>
          <p:cNvSpPr>
            <a:spLocks xmlns:a="http://schemas.openxmlformats.org/drawingml/2006/main" noGrp="1"/>
          </p:cNvSpPr>
          <p:nvPr/>
        </p:nvSpPr>
        <p:spPr>
          <a:xfrm xmlns:a="http://schemas.openxmlformats.org/drawingml/2006/main">
            <a:off x="6667500" y="2762250"/>
            <a:ext cx="4762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F172A"/>
                </a:solidFill>
                <a:latin typeface="Open Sans"/>
                <a:ea typeface="Open Sans"/>
                <a:cs typeface="Open Sans"/>
              </a:defRPr>
            </a:defPPr>
          </a:lstStyle>
          <a:p xmlns:a="http://schemas.openxmlformats.org/drawingml/2006/main">
            <a:pPr>
              <a:defRPr sz="2025" b="0">
                <a:solidFill>
                  <a:srgbClr val="0F172A"/>
                </a:solidFill>
                <a:latin typeface="Open Sans"/>
                <a:ea typeface="Open Sans"/>
                <a:cs typeface="Open Sans"/>
              </a:defRPr>
            </a:pPr>
            <a:r>
              <a:rPr sz="2025" b="0">
                <a:solidFill>
                  <a:srgbClr val="0F172A"/>
                </a:solidFill>
                <a:latin typeface="Open Sans"/>
                <a:ea typeface="Open Sans"/>
                <a:cs typeface="Open Sans"/>
              </a:rPr>
              <a:t>Rounded-up monthly planning budgets</a:t>
            </a:r>
          </a:p>
          <a:p xmlns:a="http://schemas.openxmlformats.org/drawingml/2006/main">
            <a:pPr>
              <a:defRPr sz="2025" b="0">
                <a:solidFill>
                  <a:srgbClr val="0F172A"/>
                </a:solidFill>
                <a:latin typeface="Open Sans"/>
                <a:ea typeface="Open Sans"/>
                <a:cs typeface="Open Sans"/>
              </a:defRPr>
            </a:pPr>
            <a:r>
              <a:rPr sz="2025" b="0">
                <a:solidFill>
                  <a:srgbClr val="0F172A"/>
                </a:solidFill>
                <a:latin typeface="Open Sans"/>
                <a:ea typeface="Open Sans"/>
                <a:cs typeface="Open Sans"/>
              </a:rPr>
              <a:t>30 daily scans, 256 MB Arm, 30 sec/run</a:t>
            </a:r>
          </a:p>
          <a:p xmlns:a="http://schemas.openxmlformats.org/drawingml/2006/main">
            <a:pPr>
              <a:defRPr sz="2025" b="0">
                <a:solidFill>
                  <a:srgbClr val="0F172A"/>
                </a:solidFill>
                <a:latin typeface="Open Sans"/>
                <a:ea typeface="Open Sans"/>
                <a:cs typeface="Open Sans"/>
              </a:defRPr>
            </a:pPr>
            <a:r>
              <a:rPr sz="2025" b="0">
                <a:solidFill>
                  <a:srgbClr val="0F172A"/>
                </a:solidFill>
                <a:latin typeface="Open Sans"/>
                <a:ea typeface="Open Sans"/>
                <a:cs typeface="Open Sans"/>
              </a:rPr>
              <a:t>Before credits, taxes and exclusions</a:t>
            </a:r>
          </a:p>
        </p:txBody>
      </p:sp>
      <p:sp>
        <p:nvSpPr>
          <p:cNvPr id="9" name="evidence">
            <a:extLst xmlns:a="http://schemas.openxmlformats.org/drawingml/2006/main">
              <a:ext uri="{FF2B5EF4-FFF2-40B4-BE49-F238E27FC236}">
                <a16:creationId xmlns:a16="http://schemas.microsoft.com/office/drawing/2014/main" id="{7A96C91D-75AB-4EC4-A48D-16FD7B2550E1}"/>
              </a:ext>
            </a:extLst>
          </p:cNvPr>
          <p:cNvSpPr>
            <a:spLocks xmlns:a="http://schemas.openxmlformats.org/drawingml/2006/main" noGrp="1"/>
          </p:cNvSpPr>
          <p:nvPr/>
        </p:nvSpPr>
        <p:spPr>
          <a:xfrm xmlns:a="http://schemas.openxmlformats.org/drawingml/2006/main">
            <a:off x="762000" y="47625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2A49"/>
                </a:solidFill>
                <a:latin typeface="Open Sans"/>
                <a:ea typeface="Open Sans"/>
                <a:cs typeface="Open Sans"/>
              </a:defRPr>
            </a:defPPr>
          </a:lstStyle>
          <a:p xmlns:a="http://schemas.openxmlformats.org/drawingml/2006/main">
            <a:pPr>
              <a:defRPr sz="1800" b="0">
                <a:solidFill>
                  <a:srgbClr val="1B2A49"/>
                </a:solidFill>
                <a:latin typeface="Open Sans"/>
                <a:ea typeface="Open Sans"/>
                <a:cs typeface="Open Sans"/>
              </a:defRPr>
            </a:pPr>
            <a:r>
              <a:rPr sz="1800" b="0">
                <a:solidFill>
                  <a:srgbClr val="1B2A49"/>
                </a:solidFill>
                <a:latin typeface="Open Sans"/>
                <a:ea typeface="Open Sans"/>
                <a:cs typeface="Open Sans"/>
              </a:rPr>
              <a:t>Measured offline: 88 tests pass; three scenarios match committed reports.</a:t>
            </a:r>
          </a:p>
          <a:p xmlns:a="http://schemas.openxmlformats.org/drawingml/2006/main">
            <a:pPr>
              <a:defRPr sz="1800" b="0">
                <a:solidFill>
                  <a:srgbClr val="1B2A49"/>
                </a:solidFill>
                <a:latin typeface="Open Sans"/>
                <a:ea typeface="Open Sans"/>
                <a:cs typeface="Open Sans"/>
              </a:defRPr>
            </a:pPr>
            <a:r>
              <a:rPr sz="1800" b="0">
                <a:solidFill>
                  <a:srgbClr val="1B2A49"/>
                </a:solidFill>
                <a:latin typeface="Open Sans"/>
                <a:ea typeface="Open Sans"/>
                <a:cs typeface="Open Sans"/>
              </a:rPr>
              <a:t>Pilot targets: seven expected runs, both stored reports, one confirmed notification.</a:t>
            </a:r>
          </a:p>
        </p:txBody>
      </p:sp>
      <p:sp>
        <p:nvSpPr>
          <p:cNvPr id="10" name="estimate">
            <a:extLst xmlns:a="http://schemas.openxmlformats.org/drawingml/2006/main">
              <a:ext uri="{FF2B5EF4-FFF2-40B4-BE49-F238E27FC236}">
                <a16:creationId xmlns:a16="http://schemas.microsoft.com/office/drawing/2014/main" id="{F843DB7C-ECF5-438D-BD69-9F3946EE88D6}"/>
              </a:ext>
            </a:extLst>
          </p:cNvPr>
          <p:cNvSpPr>
            <a:spLocks xmlns:a="http://schemas.openxmlformats.org/drawingml/2006/main" noGrp="1"/>
          </p:cNvSpPr>
          <p:nvPr/>
        </p:nvSpPr>
        <p:spPr>
          <a:xfrm xmlns:a="http://schemas.openxmlformats.org/drawingml/2006/main">
            <a:off x="762000" y="585787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5595F"/>
                </a:solidFill>
                <a:latin typeface="Open Sans"/>
                <a:ea typeface="Open Sans"/>
                <a:cs typeface="Open Sans"/>
              </a:defRPr>
            </a:defPPr>
          </a:lstStyle>
          <a:p xmlns:a="http://schemas.openxmlformats.org/drawingml/2006/main">
            <a:pPr>
              <a:defRPr sz="1500" b="0">
                <a:solidFill>
                  <a:srgbClr val="55595F"/>
                </a:solidFill>
                <a:latin typeface="Open Sans"/>
                <a:ea typeface="Open Sans"/>
                <a:cs typeface="Open Sans"/>
              </a:defRPr>
            </a:pPr>
            <a:r>
              <a:rPr sz="1500" b="0">
                <a:solidFill>
                  <a:srgbClr val="55595F"/>
                </a:solidFill>
                <a:latin typeface="Open Sans"/>
                <a:ea typeface="Open Sans"/>
                <a:cs typeface="Open Sans"/>
              </a:rPr>
              <a:t>Time and cost are scenario estimates, not measured AWS outcomes. Inputs, arithmetic and sources: docs/VALUE_AND_COST.md.</a:t>
            </a:r>
          </a:p>
        </p:txBody>
      </p:sp>
    </p:spTree>
    <p:extLst>
      <p:ext uri="{BB962C8B-B14F-4D97-AF65-F5344CB8AC3E}">
        <p14:creationId xmlns:p14="http://schemas.microsoft.com/office/powerpoint/2010/main" val="2123993184"/>
      </p:ext>
    </p:extLst>
  </p:cSld>
</p:sld>
</file>

<file path=ppt/slides/slide11.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6E9D60F-C2CF-43B8-B9CC-C79A27B1D80B}"/>
              </a:ext>
            </a:extLst>
          </p:cNvPr>
          <p:cNvPicPr>
            <a:picLocks xmlns:a="http://schemas.openxmlformats.org/drawingml/2006/main" noChangeAspect="1"/>
          </p:cNvPicPr>
          <p:nvPr/>
        </p:nvPicPr>
        <p:blipFill>
          <a:blip xmlns:r="http://schemas.openxmlformats.org/officeDocument/2006/relationships" xmlns:a="http://schemas.openxmlformats.org/drawingml/2006/main" r:embed="Rb329655777664285"/>
          <a:stretch xmlns:a="http://schemas.openxmlformats.org/drawingml/2006/main"/>
        </p:blipFill>
        <p:spPr>
          <a:xfrm xmlns:a="http://schemas.openxmlformats.org/drawingml/2006/main">
            <a:off x="16" y="0"/>
            <a:ext cx="4445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487D55FB-64DF-417E-982F-87423E2D1165}"/>
              </a:ext>
            </a:extLst>
          </p:cNvPr>
          <p:cNvSpPr>
            <a:spLocks xmlns:a="http://schemas.openxmlformats.org/drawingml/2006/main" noGrp="1"/>
          </p:cNvSpPr>
          <p:nvPr/>
        </p:nvSpPr>
        <p:spPr>
          <a:xfrm xmlns:a="http://schemas.openxmlformats.org/drawingml/2006/main">
            <a:off x="723900" y="4000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C41230"/>
                </a:solidFill>
                <a:latin typeface="Open Sans"/>
                <a:ea typeface="Open Sans"/>
                <a:cs typeface="Open Sans"/>
              </a:defRPr>
            </a:defPPr>
          </a:lstStyle>
          <a:p xmlns:a="http://schemas.openxmlformats.org/drawingml/2006/main">
            <a:pPr>
              <a:defRPr sz="1200" b="1">
                <a:solidFill>
                  <a:srgbClr val="C41230"/>
                </a:solidFill>
                <a:latin typeface="Open Sans"/>
                <a:ea typeface="Open Sans"/>
                <a:cs typeface="Open Sans"/>
              </a:defRPr>
            </a:pPr>
            <a:r>
              <a:rPr sz="1200" b="1">
                <a:solidFill>
                  <a:srgbClr val="C41230"/>
                </a:solidFill>
                <a:latin typeface="Open Sans"/>
                <a:ea typeface="Open Sans"/>
                <a:cs typeface="Open Sans"/>
              </a:rPr>
              <a:t>IMPLEMENTATION PLAN AND FUTURE WORK</a:t>
            </a:r>
          </a:p>
        </p:txBody>
      </p:sp>
      <p:sp>
        <p:nvSpPr>
          <p:cNvPr id="3" name="title">
            <a:extLst xmlns:a="http://schemas.openxmlformats.org/drawingml/2006/main">
              <a:ext uri="{FF2B5EF4-FFF2-40B4-BE49-F238E27FC236}">
                <a16:creationId xmlns:a16="http://schemas.microsoft.com/office/drawing/2014/main" id="{B23414AF-6643-4451-8EC3-B3B47AC8CF97}"/>
              </a:ext>
            </a:extLst>
          </p:cNvPr>
          <p:cNvSpPr>
            <a:spLocks xmlns:a="http://schemas.openxmlformats.org/drawingml/2006/main" noGrp="1"/>
          </p:cNvSpPr>
          <p:nvPr/>
        </p:nvSpPr>
        <p:spPr>
          <a:xfrm xmlns:a="http://schemas.openxmlformats.org/drawingml/2006/main">
            <a:off x="723900" y="838200"/>
            <a:ext cx="10744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0">
                <a:solidFill>
                  <a:srgbClr val="55595F"/>
                </a:solidFill>
                <a:latin typeface="Open Sans"/>
                <a:ea typeface="Open Sans"/>
                <a:cs typeface="Open Sans"/>
              </a:defRPr>
            </a:defPPr>
          </a:lstStyle>
          <a:p xmlns:a="http://schemas.openxmlformats.org/drawingml/2006/main">
            <a:pPr>
              <a:defRPr sz="2925" b="0">
                <a:solidFill>
                  <a:srgbClr val="55595F"/>
                </a:solidFill>
                <a:latin typeface="Open Sans"/>
                <a:ea typeface="Open Sans"/>
                <a:cs typeface="Open Sans"/>
              </a:defRPr>
            </a:pPr>
            <a:r>
              <a:rPr sz="2925" b="0">
                <a:solidFill>
                  <a:srgbClr val="55595F"/>
                </a:solidFill>
                <a:latin typeface="Open Sans"/>
                <a:ea typeface="Open Sans"/>
                <a:cs typeface="Open Sans"/>
              </a:rPr>
              <a:t>A staged pilot before broader scope</a:t>
            </a:r>
          </a:p>
        </p:txBody>
      </p:sp>
      <p:sp>
        <p:nvSpPr>
          <p:cNvPr id="4" name="footer">
            <a:extLst xmlns:a="http://schemas.openxmlformats.org/drawingml/2006/main">
              <a:ext uri="{FF2B5EF4-FFF2-40B4-BE49-F238E27FC236}">
                <a16:creationId xmlns:a16="http://schemas.microsoft.com/office/drawing/2014/main" id="{58B85AE5-6FFA-403A-8525-C38D7BC6757F}"/>
              </a:ext>
            </a:extLst>
          </p:cNvPr>
          <p:cNvSpPr>
            <a:spLocks xmlns:a="http://schemas.openxmlformats.org/drawingml/2006/main" noGrp="1"/>
          </p:cNvSpPr>
          <p:nvPr/>
        </p:nvSpPr>
        <p:spPr>
          <a:xfrm xmlns:a="http://schemas.openxmlformats.org/drawingml/2006/main">
            <a:off x="7239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55595F"/>
                </a:solidFill>
                <a:latin typeface="Open Sans"/>
                <a:ea typeface="Open Sans"/>
                <a:cs typeface="Open Sans"/>
              </a:defRPr>
            </a:defPPr>
          </a:lstStyle>
          <a:p xmlns:a="http://schemas.openxmlformats.org/drawingml/2006/main">
            <a:pPr>
              <a:defRPr sz="975" b="0">
                <a:solidFill>
                  <a:srgbClr val="55595F"/>
                </a:solidFill>
                <a:latin typeface="Open Sans"/>
                <a:ea typeface="Open Sans"/>
                <a:cs typeface="Open Sans"/>
              </a:defRPr>
            </a:pPr>
            <a:r>
              <a:rPr sz="975" b="0">
                <a:solidFill>
                  <a:srgbClr val="55595F"/>
                </a:solidFill>
                <a:latin typeface="Open Sans"/>
                <a:ea typeface="Open Sans"/>
                <a:cs typeface="Open Sans"/>
              </a:rPr>
              <a:t>Carnegie Mellon University   /   Charlotte Zhang &amp; Nana Ge   /   11</a:t>
            </a:r>
          </a:p>
        </p:txBody>
      </p:sp>
      <p:graphicFrame>
        <p:nvGraphicFramePr>
          <p:cNvPr id="5" name="">
            <a:extLst xmlns:a="http://schemas.openxmlformats.org/drawingml/2006/main">
              <a:ext uri="{FF2B5EF4-FFF2-40B4-BE49-F238E27FC236}">
                <a16:creationId xmlns:a16="http://schemas.microsoft.com/office/drawing/2014/main" id="{590015A2-AB40-433F-9715-DE34757C6134}"/>
              </a:ext>
            </a:extLst>
          </p:cNvPr>
          <p:cNvGraphicFramePr/>
          <p:nvPr/>
        </p:nvGraphicFramePr>
        <p:xfrm>
          <a:off xmlns:a="http://schemas.openxmlformats.org/drawingml/2006/main" x="762000" y="1952625"/>
          <a:ext xmlns:a="http://schemas.openxmlformats.org/drawingml/2006/main" cx="10668000" cy="3381375"/>
        </p:xfrm>
        <a:graphic xmlns:a="http://schemas.openxmlformats.org/drawingml/2006/main">
          <a:graphicData uri="http://schemas.openxmlformats.org/drawingml/2006/table">
            <a:tbl>
              <a:tblPr/>
              <a:tblGrid>
                <a:gridCol w="1619250"/>
                <a:gridCol w="4667250"/>
                <a:gridCol w="4381500"/>
              </a:tblGrid>
              <a:tr h="563563">
                <a:tc>
                  <a:txBody>
                    <a:bodyPr lIns="95250" tIns="95250" rIns="95250" bIns="95250">
                      <a:noAutofit/>
                    </a:bodyPr>
                    <a:lstStyle/>
                    <a:p>
                      <a:r>
                        <a:rPr sz="1575" b="1">
                          <a:solidFill>
                            <a:srgbClr val="FFFFFF"/>
                          </a:solidFill>
                          <a:latin typeface="Open Sans"/>
                          <a:ea typeface="Open Sans"/>
                          <a:cs typeface="Open Sans"/>
                        </a:rPr>
                        <a:t>Stage</a:t>
                      </a:r>
                    </a:p>
                  </a:txBody>
                  <a:tcPr marL="91440" marR="91440" marT="45720" marB="45720" anchor="ctr">
                    <a:lnL w="9525">
                      <a:solidFill>
                        <a:srgbClr val="D5DCE6"/>
                      </a:solidFill>
                      <a:prstDash val="solid"/>
                    </a:lnL>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c>
                  <a:txBody>
                    <a:bodyPr lIns="95250" tIns="95250" rIns="95250" bIns="95250">
                      <a:noAutofit/>
                    </a:bodyPr>
                    <a:lstStyle/>
                    <a:p>
                      <a:r>
                        <a:rPr sz="1575" b="1">
                          <a:solidFill>
                            <a:srgbClr val="FFFFFF"/>
                          </a:solidFill>
                          <a:latin typeface="Open Sans"/>
                          <a:ea typeface="Open Sans"/>
                          <a:cs typeface="Open Sans"/>
                        </a:rPr>
                        <a:t>Action</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c>
                  <a:txBody>
                    <a:bodyPr lIns="95250" tIns="95250" rIns="95250" bIns="95250">
                      <a:noAutofit/>
                    </a:bodyPr>
                    <a:lstStyle/>
                    <a:p>
                      <a:r>
                        <a:rPr sz="1575" b="1">
                          <a:solidFill>
                            <a:srgbClr val="FFFFFF"/>
                          </a:solidFill>
                          <a:latin typeface="Open Sans"/>
                          <a:ea typeface="Open Sans"/>
                          <a:cs typeface="Open Sans"/>
                        </a:rPr>
                        <a:t>Acceptance evidence</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1B2A49"/>
                    </a:solidFill>
                  </a:tcPr>
                </a:tc>
              </a:tr>
              <a:tr h="563563">
                <a:tc>
                  <a:txBody>
                    <a:bodyPr lIns="95250" tIns="95250" rIns="95250" bIns="95250">
                      <a:noAutofit/>
                    </a:bodyPr>
                    <a:lstStyle/>
                    <a:p>
                      <a:r>
                        <a:rPr sz="1650" b="0">
                          <a:solidFill>
                            <a:srgbClr val="0F172A"/>
                          </a:solidFill>
                          <a:latin typeface="Open Sans"/>
                          <a:ea typeface="Open Sans"/>
                          <a:cs typeface="Open Sans"/>
                        </a:rPr>
                        <a:t>First</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650" b="0">
                          <a:solidFill>
                            <a:srgbClr val="0F172A"/>
                          </a:solidFill>
                          <a:latin typeface="Open Sans"/>
                          <a:ea typeface="Open Sans"/>
                          <a:cs typeface="Open Sans"/>
                        </a:rPr>
                        <a:t>Review scope and deploy defaults</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650" b="0">
                          <a:solidFill>
                            <a:srgbClr val="0F172A"/>
                          </a:solidFill>
                          <a:latin typeface="Open Sans"/>
                          <a:ea typeface="Open Sans"/>
                          <a:cs typeface="Open Sans"/>
                        </a:rPr>
                        <a:t>Expected account and least privilege</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563563">
                <a:tc>
                  <a:txBody>
                    <a:bodyPr lIns="95250" tIns="95250" rIns="95250" bIns="95250">
                      <a:noAutofit/>
                    </a:bodyPr>
                    <a:lstStyle/>
                    <a:p>
                      <a:r>
                        <a:rPr sz="1650" b="0">
                          <a:solidFill>
                            <a:srgbClr val="0F172A"/>
                          </a:solidFill>
                          <a:latin typeface="Open Sans"/>
                          <a:ea typeface="Open Sans"/>
                          <a:cs typeface="Open Sans"/>
                        </a:rPr>
                        <a:t>Next</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650" b="0">
                          <a:solidFill>
                            <a:srgbClr val="0F172A"/>
                          </a:solidFill>
                          <a:latin typeface="Open Sans"/>
                          <a:ea typeface="Open Sans"/>
                          <a:cs typeface="Open Sans"/>
                        </a:rPr>
                        <a:t>Enable reads, reports, one recipient</a:t>
                      </a:r>
                    </a:p>
                  </a:txBody>
                  <a:tcPr marL="91440" marR="91440" marT="45720" marB="45720" anchor="ctr">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650" b="0">
                          <a:solidFill>
                            <a:srgbClr val="0F172A"/>
                          </a:solidFill>
                          <a:latin typeface="Open Sans"/>
                          <a:ea typeface="Open Sans"/>
                          <a:cs typeface="Open Sans"/>
                        </a:rPr>
                        <a:t>Evidence, stored JSON/HTML, summary</a:t>
                      </a:r>
                    </a:p>
                  </a:txBody>
                  <a:tcPr marL="91440" marR="91440" marT="45720" marB="45720" anchor="ctr">
                    <a:lnR w="9525">
                      <a:solidFill>
                        <a:srgbClr val="D5DCE6"/>
                      </a:solidFill>
                      <a:prstDash val="solid"/>
                    </a:lnR>
                    <a:lnB w="9525">
                      <a:solidFill>
                        <a:srgbClr val="D5DCE6"/>
                      </a:solidFill>
                      <a:prstDash val="solid"/>
                    </a:lnB>
                    <a:solidFill>
                      <a:srgbClr val="EEF1F6"/>
                    </a:solidFill>
                  </a:tcPr>
                </a:tc>
              </a:tr>
              <a:tr h="563563">
                <a:tc>
                  <a:txBody>
                    <a:bodyPr lIns="95250" tIns="95250" rIns="95250" bIns="95250">
                      <a:noAutofit/>
                    </a:bodyPr>
                    <a:lstStyle/>
                    <a:p>
                      <a:r>
                        <a:rPr sz="1650" b="0">
                          <a:solidFill>
                            <a:srgbClr val="0F172A"/>
                          </a:solidFill>
                          <a:latin typeface="Open Sans"/>
                          <a:ea typeface="Open Sans"/>
                          <a:cs typeface="Open Sans"/>
                        </a:rPr>
                        <a:t>Pilot week</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650" b="0">
                          <a:solidFill>
                            <a:srgbClr val="0F172A"/>
                          </a:solidFill>
                          <a:latin typeface="Open Sans"/>
                          <a:ea typeface="Open Sans"/>
                          <a:cs typeface="Open Sans"/>
                        </a:rPr>
                        <a:t>Enable daily schedule; observe runs</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650" b="0">
                          <a:solidFill>
                            <a:srgbClr val="0F172A"/>
                          </a:solidFill>
                          <a:latin typeface="Open Sans"/>
                          <a:ea typeface="Open Sans"/>
                          <a:cs typeface="Open Sans"/>
                        </a:rPr>
                        <a:t>Seven expected runs; cost/runtime review</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563563">
                <a:tc>
                  <a:txBody>
                    <a:bodyPr lIns="95250" tIns="95250" rIns="95250" bIns="95250">
                      <a:noAutofit/>
                    </a:bodyPr>
                    <a:lstStyle/>
                    <a:p>
                      <a:r>
                        <a:rPr sz="1650" b="0">
                          <a:solidFill>
                            <a:srgbClr val="0F172A"/>
                          </a:solidFill>
                          <a:latin typeface="Open Sans"/>
                          <a:ea typeface="Open Sans"/>
                          <a:cs typeface="Open Sans"/>
                        </a:rPr>
                        <a:t>After pilot</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650" b="0">
                          <a:solidFill>
                            <a:srgbClr val="0F172A"/>
                          </a:solidFill>
                          <a:latin typeface="Open Sans"/>
                          <a:ea typeface="Open Sans"/>
                          <a:cs typeface="Open Sans"/>
                        </a:rPr>
                        <a:t>Add liveness and deduplication</a:t>
                      </a:r>
                    </a:p>
                  </a:txBody>
                  <a:tcPr marL="91440" marR="91440" marT="45720" marB="45720" anchor="ctr">
                    <a:lnR w="9525">
                      <a:solidFill>
                        <a:srgbClr val="D5DCE6"/>
                      </a:solidFill>
                      <a:prstDash val="solid"/>
                    </a:lnR>
                    <a:lnB w="9525">
                      <a:solidFill>
                        <a:srgbClr val="D5DCE6"/>
                      </a:solidFill>
                      <a:prstDash val="solid"/>
                    </a:lnB>
                    <a:solidFill>
                      <a:srgbClr val="EEF1F6"/>
                    </a:solidFill>
                  </a:tcPr>
                </a:tc>
                <a:tc>
                  <a:txBody>
                    <a:bodyPr lIns="95250" tIns="95250" rIns="95250" bIns="95250">
                      <a:noAutofit/>
                    </a:bodyPr>
                    <a:lstStyle/>
                    <a:p>
                      <a:r>
                        <a:rPr sz="1650" b="0">
                          <a:solidFill>
                            <a:srgbClr val="0F172A"/>
                          </a:solidFill>
                          <a:latin typeface="Open Sans"/>
                          <a:ea typeface="Open Sans"/>
                          <a:cs typeface="Open Sans"/>
                        </a:rPr>
                        <a:t>Missing-run and duplicate exercises</a:t>
                      </a:r>
                    </a:p>
                  </a:txBody>
                  <a:tcPr marL="91440" marR="91440" marT="45720" marB="45720" anchor="ctr">
                    <a:lnR w="9525">
                      <a:solidFill>
                        <a:srgbClr val="D5DCE6"/>
                      </a:solidFill>
                      <a:prstDash val="solid"/>
                    </a:lnR>
                    <a:lnB w="9525">
                      <a:solidFill>
                        <a:srgbClr val="D5DCE6"/>
                      </a:solidFill>
                      <a:prstDash val="solid"/>
                    </a:lnB>
                    <a:solidFill>
                      <a:srgbClr val="EEF1F6"/>
                    </a:solidFill>
                  </a:tcPr>
                </a:tc>
              </a:tr>
              <a:tr h="563563">
                <a:tc>
                  <a:txBody>
                    <a:bodyPr lIns="95250" tIns="95250" rIns="95250" bIns="95250">
                      <a:noAutofit/>
                    </a:bodyPr>
                    <a:lstStyle/>
                    <a:p>
                      <a:r>
                        <a:rPr sz="1650" b="0">
                          <a:solidFill>
                            <a:srgbClr val="0F172A"/>
                          </a:solidFill>
                          <a:latin typeface="Open Sans"/>
                          <a:ea typeface="Open Sans"/>
                          <a:cs typeface="Open Sans"/>
                        </a:rPr>
                        <a:t>Expand</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650" b="0">
                          <a:solidFill>
                            <a:srgbClr val="0F172A"/>
                          </a:solidFill>
                          <a:latin typeface="Open Sans"/>
                          <a:ea typeface="Open Sans"/>
                          <a:cs typeface="Open Sans"/>
                        </a:rPr>
                        <a:t>More controls, accounts and regions</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r>
                        <a:rPr sz="1650" b="0">
                          <a:solidFill>
                            <a:srgbClr val="0F172A"/>
                          </a:solidFill>
                          <a:latin typeface="Open Sans"/>
                          <a:ea typeface="Open Sans"/>
                          <a:cs typeface="Open Sans"/>
                        </a:rPr>
                        <a:t>Matching policies, quotas and scale tests</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bl>
          </a:graphicData>
        </a:graphic>
      </p:graphicFrame>
      <p:sp>
        <p:nvSpPr>
          <p:cNvPr id="6" name="future">
            <a:extLst xmlns:a="http://schemas.openxmlformats.org/drawingml/2006/main">
              <a:ext uri="{FF2B5EF4-FFF2-40B4-BE49-F238E27FC236}">
                <a16:creationId xmlns:a16="http://schemas.microsoft.com/office/drawing/2014/main" id="{390E14EC-2A2C-4E4A-8D7E-278E1AB767B0}"/>
              </a:ext>
            </a:extLst>
          </p:cNvPr>
          <p:cNvSpPr>
            <a:spLocks xmlns:a="http://schemas.openxmlformats.org/drawingml/2006/main" noGrp="1"/>
          </p:cNvSpPr>
          <p:nvPr/>
        </p:nvSpPr>
        <p:spPr>
          <a:xfrm xmlns:a="http://schemas.openxmlformats.org/drawingml/2006/main">
            <a:off x="762000" y="56673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5595F"/>
                </a:solidFill>
                <a:latin typeface="Open Sans"/>
                <a:ea typeface="Open Sans"/>
                <a:cs typeface="Open Sans"/>
              </a:defRPr>
            </a:defPPr>
          </a:lstStyle>
          <a:p xmlns:a="http://schemas.openxmlformats.org/drawingml/2006/main">
            <a:pPr>
              <a:defRPr sz="1800" b="0">
                <a:solidFill>
                  <a:srgbClr val="55595F"/>
                </a:solidFill>
                <a:latin typeface="Open Sans"/>
                <a:ea typeface="Open Sans"/>
                <a:cs typeface="Open Sans"/>
              </a:defRPr>
            </a:pPr>
            <a:r>
              <a:rPr sz="1800" b="0">
                <a:solidFill>
                  <a:srgbClr val="55595F"/>
                </a:solidFill>
                <a:latin typeface="Open Sans"/>
                <a:ea typeface="Open Sans"/>
                <a:cs typeface="Open Sans"/>
              </a:rPr>
              <a:t>Later checks: SageMaker settings, KMS policies, federation, RDS and CloudTrail data events.</a:t>
            </a:r>
          </a:p>
        </p:txBody>
      </p:sp>
    </p:spTree>
    <p:extLst>
      <p:ext uri="{BB962C8B-B14F-4D97-AF65-F5344CB8AC3E}">
        <p14:creationId xmlns:p14="http://schemas.microsoft.com/office/powerpoint/2010/main" val="2011810916"/>
      </p:ext>
    </p:extLst>
  </p:cSld>
</p:sld>
</file>

<file path=ppt/slides/slide12.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2A63245-5FB1-4557-BACC-C7A3D0DA25D8}"/>
              </a:ext>
            </a:extLst>
          </p:cNvPr>
          <p:cNvPicPr>
            <a:picLocks xmlns:a="http://schemas.openxmlformats.org/drawingml/2006/main" noChangeAspect="1"/>
          </p:cNvPicPr>
          <p:nvPr/>
        </p:nvPicPr>
        <p:blipFill>
          <a:blip xmlns:r="http://schemas.openxmlformats.org/officeDocument/2006/relationships" xmlns:a="http://schemas.openxmlformats.org/drawingml/2006/main" r:embed="Rdfd146bd73cf4628"/>
          <a:stretch xmlns:a="http://schemas.openxmlformats.org/drawingml/2006/main"/>
        </p:blipFill>
        <p:spPr>
          <a:xfrm xmlns:a="http://schemas.openxmlformats.org/drawingml/2006/main">
            <a:off x="16" y="0"/>
            <a:ext cx="4445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955F2CA9-80E6-4920-9C8E-25D866618CE1}"/>
              </a:ext>
            </a:extLst>
          </p:cNvPr>
          <p:cNvSpPr>
            <a:spLocks xmlns:a="http://schemas.openxmlformats.org/drawingml/2006/main" noGrp="1"/>
          </p:cNvSpPr>
          <p:nvPr/>
        </p:nvSpPr>
        <p:spPr>
          <a:xfrm xmlns:a="http://schemas.openxmlformats.org/drawingml/2006/main">
            <a:off x="723900" y="4000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C41230"/>
                </a:solidFill>
                <a:latin typeface="Open Sans"/>
                <a:ea typeface="Open Sans"/>
                <a:cs typeface="Open Sans"/>
              </a:defRPr>
            </a:defPPr>
          </a:lstStyle>
          <a:p xmlns:a="http://schemas.openxmlformats.org/drawingml/2006/main">
            <a:pPr>
              <a:defRPr sz="1200" b="1">
                <a:solidFill>
                  <a:srgbClr val="C41230"/>
                </a:solidFill>
                <a:latin typeface="Open Sans"/>
                <a:ea typeface="Open Sans"/>
                <a:cs typeface="Open Sans"/>
              </a:defRPr>
            </a:pPr>
            <a:r>
              <a:rPr sz="1200" b="1">
                <a:solidFill>
                  <a:srgbClr val="C41230"/>
                </a:solidFill>
                <a:latin typeface="Open Sans"/>
                <a:ea typeface="Open Sans"/>
                <a:cs typeface="Open Sans"/>
              </a:rPr>
              <a:t>KEY TAKEAWAYS</a:t>
            </a:r>
          </a:p>
        </p:txBody>
      </p:sp>
      <p:sp>
        <p:nvSpPr>
          <p:cNvPr id="3" name="title">
            <a:extLst xmlns:a="http://schemas.openxmlformats.org/drawingml/2006/main">
              <a:ext uri="{FF2B5EF4-FFF2-40B4-BE49-F238E27FC236}">
                <a16:creationId xmlns:a16="http://schemas.microsoft.com/office/drawing/2014/main" id="{75D03086-03DD-4AEB-9269-7C2E6AB8E4F3}"/>
              </a:ext>
            </a:extLst>
          </p:cNvPr>
          <p:cNvSpPr>
            <a:spLocks xmlns:a="http://schemas.openxmlformats.org/drawingml/2006/main" noGrp="1"/>
          </p:cNvSpPr>
          <p:nvPr/>
        </p:nvSpPr>
        <p:spPr>
          <a:xfrm xmlns:a="http://schemas.openxmlformats.org/drawingml/2006/main">
            <a:off x="723900" y="838200"/>
            <a:ext cx="10744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0">
                <a:solidFill>
                  <a:srgbClr val="55595F"/>
                </a:solidFill>
                <a:latin typeface="Open Sans"/>
                <a:ea typeface="Open Sans"/>
                <a:cs typeface="Open Sans"/>
              </a:defRPr>
            </a:defPPr>
          </a:lstStyle>
          <a:p xmlns:a="http://schemas.openxmlformats.org/drawingml/2006/main">
            <a:pPr>
              <a:defRPr sz="2925" b="0">
                <a:solidFill>
                  <a:srgbClr val="55595F"/>
                </a:solidFill>
                <a:latin typeface="Open Sans"/>
                <a:ea typeface="Open Sans"/>
                <a:cs typeface="Open Sans"/>
              </a:defRPr>
            </a:pPr>
            <a:r>
              <a:rPr sz="2925" b="0">
                <a:solidFill>
                  <a:srgbClr val="55595F"/>
                </a:solidFill>
                <a:latin typeface="Open Sans"/>
                <a:ea typeface="Open Sans"/>
                <a:cs typeface="Open Sans"/>
              </a:rPr>
              <a:t>A working baseline checker with explicit limits</a:t>
            </a:r>
          </a:p>
        </p:txBody>
      </p:sp>
      <p:sp>
        <p:nvSpPr>
          <p:cNvPr id="4" name="footer">
            <a:extLst xmlns:a="http://schemas.openxmlformats.org/drawingml/2006/main">
              <a:ext uri="{FF2B5EF4-FFF2-40B4-BE49-F238E27FC236}">
                <a16:creationId xmlns:a16="http://schemas.microsoft.com/office/drawing/2014/main" id="{7BE99DD5-8F39-4E06-9BCE-6BBB19F75910}"/>
              </a:ext>
            </a:extLst>
          </p:cNvPr>
          <p:cNvSpPr>
            <a:spLocks xmlns:a="http://schemas.openxmlformats.org/drawingml/2006/main" noGrp="1"/>
          </p:cNvSpPr>
          <p:nvPr/>
        </p:nvSpPr>
        <p:spPr>
          <a:xfrm xmlns:a="http://schemas.openxmlformats.org/drawingml/2006/main">
            <a:off x="7239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55595F"/>
                </a:solidFill>
                <a:latin typeface="Open Sans"/>
                <a:ea typeface="Open Sans"/>
                <a:cs typeface="Open Sans"/>
              </a:defRPr>
            </a:defPPr>
          </a:lstStyle>
          <a:p xmlns:a="http://schemas.openxmlformats.org/drawingml/2006/main">
            <a:pPr>
              <a:defRPr sz="975" b="0">
                <a:solidFill>
                  <a:srgbClr val="55595F"/>
                </a:solidFill>
                <a:latin typeface="Open Sans"/>
                <a:ea typeface="Open Sans"/>
                <a:cs typeface="Open Sans"/>
              </a:defRPr>
            </a:pPr>
            <a:r>
              <a:rPr sz="975" b="0">
                <a:solidFill>
                  <a:srgbClr val="55595F"/>
                </a:solidFill>
                <a:latin typeface="Open Sans"/>
                <a:ea typeface="Open Sans"/>
                <a:cs typeface="Open Sans"/>
              </a:rPr>
              <a:t>Carnegie Mellon University   /   Charlotte Zhang &amp; Nana Ge   /   12</a:t>
            </a:r>
          </a:p>
        </p:txBody>
      </p:sp>
      <p:sp>
        <p:nvSpPr>
          <p:cNvPr id="5" name="close-main">
            <a:extLst xmlns:a="http://schemas.openxmlformats.org/drawingml/2006/main">
              <a:ext uri="{FF2B5EF4-FFF2-40B4-BE49-F238E27FC236}">
                <a16:creationId xmlns:a16="http://schemas.microsoft.com/office/drawing/2014/main" id="{3252D00D-9FC3-472E-BA40-AE6F7093A296}"/>
              </a:ext>
            </a:extLst>
          </p:cNvPr>
          <p:cNvSpPr>
            <a:spLocks xmlns:a="http://schemas.openxmlformats.org/drawingml/2006/main" noGrp="1"/>
          </p:cNvSpPr>
          <p:nvPr/>
        </p:nvSpPr>
        <p:spPr>
          <a:xfrm xmlns:a="http://schemas.openxmlformats.org/drawingml/2006/main">
            <a:off x="762000" y="2095500"/>
            <a:ext cx="10572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B2A49"/>
                </a:solidFill>
                <a:latin typeface="Open Sans"/>
                <a:ea typeface="Open Sans"/>
                <a:cs typeface="Open Sans"/>
              </a:defRPr>
            </a:defPPr>
          </a:lstStyle>
          <a:p xmlns:a="http://schemas.openxmlformats.org/drawingml/2006/main">
            <a:pPr>
              <a:defRPr sz="2625" b="1">
                <a:solidFill>
                  <a:srgbClr val="1B2A49"/>
                </a:solidFill>
                <a:latin typeface="Open Sans"/>
                <a:ea typeface="Open Sans"/>
                <a:cs typeface="Open Sans"/>
              </a:defRPr>
            </a:pPr>
            <a:r>
              <a:rPr sz="2625" b="1">
                <a:solidFill>
                  <a:srgbClr val="1B2A49"/>
                </a:solidFill>
                <a:latin typeface="Open Sans"/>
                <a:ea typeface="Open Sans"/>
                <a:cs typeface="Open Sans"/>
              </a:rPr>
              <a:t>Five configuration controls</a:t>
            </a:r>
          </a:p>
          <a:p xmlns:a="http://schemas.openxmlformats.org/drawingml/2006/main">
            <a:pPr>
              <a:defRPr sz="2625" b="1">
                <a:solidFill>
                  <a:srgbClr val="1B2A49"/>
                </a:solidFill>
                <a:latin typeface="Open Sans"/>
                <a:ea typeface="Open Sans"/>
                <a:cs typeface="Open Sans"/>
              </a:defRPr>
            </a:pPr>
            <a:r>
              <a:rPr sz="2625" b="1">
                <a:solidFill>
                  <a:srgbClr val="1B2A49"/>
                </a:solidFill>
                <a:latin typeface="Open Sans"/>
                <a:ea typeface="Open Sans"/>
                <a:cs typeface="Open Sans"/>
              </a:rPr>
              <a:t>Evidence and uncertainty reviewers can inspect</a:t>
            </a:r>
          </a:p>
          <a:p xmlns:a="http://schemas.openxmlformats.org/drawingml/2006/main">
            <a:pPr>
              <a:defRPr sz="2625" b="1">
                <a:solidFill>
                  <a:srgbClr val="1B2A49"/>
                </a:solidFill>
                <a:latin typeface="Open Sans"/>
                <a:ea typeface="Open Sans"/>
                <a:cs typeface="Open Sans"/>
              </a:defRPr>
            </a:pPr>
            <a:r>
              <a:rPr sz="2625" b="1">
                <a:solidFill>
                  <a:srgbClr val="1B2A49"/>
                </a:solidFill>
                <a:latin typeface="Open Sans"/>
                <a:ea typeface="Open Sans"/>
                <a:cs typeface="Open Sans"/>
              </a:rPr>
              <a:t>A reproducible demo and staged deployment plan</a:t>
            </a:r>
          </a:p>
        </p:txBody>
      </p:sp>
      <p:sp>
        <p:nvSpPr>
          <p:cNvPr id="6" name="close-scope">
            <a:extLst xmlns:a="http://schemas.openxmlformats.org/drawingml/2006/main">
              <a:ext uri="{FF2B5EF4-FFF2-40B4-BE49-F238E27FC236}">
                <a16:creationId xmlns:a16="http://schemas.microsoft.com/office/drawing/2014/main" id="{EFF09099-F79B-4CAB-9AE3-5FA146463C70}"/>
              </a:ext>
            </a:extLst>
          </p:cNvPr>
          <p:cNvSpPr>
            <a:spLocks xmlns:a="http://schemas.openxmlformats.org/drawingml/2006/main" noGrp="1"/>
          </p:cNvSpPr>
          <p:nvPr/>
        </p:nvSpPr>
        <p:spPr>
          <a:xfrm xmlns:a="http://schemas.openxmlformats.org/drawingml/2006/main">
            <a:off x="762000" y="45243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5595F"/>
                </a:solidFill>
                <a:latin typeface="Open Sans"/>
                <a:ea typeface="Open Sans"/>
                <a:cs typeface="Open Sans"/>
              </a:defRPr>
            </a:defPPr>
          </a:lstStyle>
          <a:p xmlns:a="http://schemas.openxmlformats.org/drawingml/2006/main">
            <a:pPr>
              <a:defRPr sz="2025" b="0">
                <a:solidFill>
                  <a:srgbClr val="55595F"/>
                </a:solidFill>
                <a:latin typeface="Open Sans"/>
                <a:ea typeface="Open Sans"/>
                <a:cs typeface="Open Sans"/>
              </a:defRPr>
            </a:pPr>
            <a:r>
              <a:rPr sz="2025" b="0">
                <a:solidFill>
                  <a:srgbClr val="55595F"/>
                </a:solidFill>
                <a:latin typeface="Open Sans"/>
                <a:ea typeface="Open Sans"/>
                <a:cs typeface="Open Sans"/>
              </a:rPr>
              <a:t>Implemented and verified offline. Live AWS permissions, scheduling, delivery and cost remain pilot work.</a:t>
            </a:r>
          </a:p>
        </p:txBody>
      </p:sp>
      <p:sp>
        <p:nvSpPr>
          <p:cNvPr id="7" name="repo-link">
            <a:extLst xmlns:a="http://schemas.openxmlformats.org/drawingml/2006/main">
              <a:ext uri="{FF2B5EF4-FFF2-40B4-BE49-F238E27FC236}">
                <a16:creationId xmlns:a16="http://schemas.microsoft.com/office/drawing/2014/main" id="{7E1C90E3-C1B4-4E48-BED4-793CD009B4D6}"/>
              </a:ext>
            </a:extLst>
          </p:cNvPr>
          <p:cNvSpPr>
            <a:spLocks xmlns:a="http://schemas.openxmlformats.org/drawingml/2006/main" noGrp="1"/>
          </p:cNvSpPr>
          <p:nvPr/>
        </p:nvSpPr>
        <p:spPr>
          <a:xfrm xmlns:a="http://schemas.openxmlformats.org/drawingml/2006/main">
            <a:off x="762000" y="56673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41230"/>
                </a:solidFill>
                <a:latin typeface="Open Sans"/>
                <a:ea typeface="Open Sans"/>
                <a:cs typeface="Open Sans"/>
              </a:defRPr>
            </a:defPPr>
          </a:lstStyle>
          <a:p xmlns:a="http://schemas.openxmlformats.org/drawingml/2006/main">
            <a:pPr>
              <a:defRPr sz="1950" b="1">
                <a:solidFill>
                  <a:srgbClr val="C41230"/>
                </a:solidFill>
                <a:latin typeface="Open Sans"/>
                <a:ea typeface="Open Sans"/>
                <a:cs typeface="Open Sans"/>
              </a:defRPr>
            </a:pPr>
            <a:r>
              <a:rPr sz="1950" b="1">
                <a:solidFill>
                  <a:srgbClr val="C41230"/>
                </a:solidFill>
                <a:latin typeface="Open Sans"/>
                <a:ea typeface="Open Sans"/>
                <a:cs typeface="Open Sans"/>
                <a:hlinkClick xmlns:r="http://schemas.openxmlformats.org/officeDocument/2006/relationships" r:id="R0d83c9193b344adf"/>
              </a:rPr>
              <a:t>Project code, reports and supporting calculations</a:t>
            </a:r>
          </a:p>
        </p:txBody>
      </p:sp>
      <p:sp>
        <p:nvSpPr>
          <p:cNvPr id="8" name="local">
            <a:extLst xmlns:a="http://schemas.openxmlformats.org/drawingml/2006/main">
              <a:ext uri="{FF2B5EF4-FFF2-40B4-BE49-F238E27FC236}">
                <a16:creationId xmlns:a16="http://schemas.microsoft.com/office/drawing/2014/main" id="{65D4ACC2-7853-49D8-B4DF-81D1451F8E5B}"/>
              </a:ext>
            </a:extLst>
          </p:cNvPr>
          <p:cNvSpPr>
            <a:spLocks xmlns:a="http://schemas.openxmlformats.org/drawingml/2006/main" noGrp="1"/>
          </p:cNvSpPr>
          <p:nvPr/>
        </p:nvSpPr>
        <p:spPr>
          <a:xfrm xmlns:a="http://schemas.openxmlformats.org/drawingml/2006/main">
            <a:off x="762000" y="6143625"/>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5595F"/>
                </a:solidFill>
                <a:latin typeface="Open Sans"/>
                <a:ea typeface="Open Sans"/>
                <a:cs typeface="Open Sans"/>
              </a:defRPr>
            </a:defPPr>
          </a:lstStyle>
          <a:p xmlns:a="http://schemas.openxmlformats.org/drawingml/2006/main">
            <a:pPr>
              <a:defRPr sz="1350" b="0">
                <a:solidFill>
                  <a:srgbClr val="55595F"/>
                </a:solidFill>
                <a:latin typeface="Open Sans"/>
                <a:ea typeface="Open Sans"/>
                <a:cs typeface="Open Sans"/>
              </a:defRPr>
            </a:pPr>
            <a:r>
              <a:rPr sz="1350" b="0">
                <a:solidFill>
                  <a:srgbClr val="55595F"/>
                </a:solidFill>
                <a:latin typeface="Open Sans"/>
                <a:ea typeface="Open Sans"/>
                <a:cs typeface="Open Sans"/>
              </a:rPr>
              <a:t>Offline demo: demo/index.html     /     References and AI-use disclosure included in the package</a:t>
            </a:r>
          </a:p>
        </p:txBody>
      </p:sp>
    </p:spTree>
    <p:extLst>
      <p:ext uri="{BB962C8B-B14F-4D97-AF65-F5344CB8AC3E}">
        <p14:creationId xmlns:p14="http://schemas.microsoft.com/office/powerpoint/2010/main" val="8219930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2026-10-16T17:33:00.0510000Z</dcterms:created>
  <dcterms:modified xsi:type="dcterms:W3CDTF">2026-10-16T17:33:00.0510000Z</dcterms:modified>
</coreProperties>
</file>